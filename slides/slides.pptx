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and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and chips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and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44584" y="438150"/>
            <a:ext cx="2290191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75" b="1" i="0" spc="255">
                <a:solidFill>
                  <a:srgbClr val="431127"/>
                </a:solidFill>
                <a:latin typeface="Arial"/>
              </a:rPr>
              <a:t>CLIENT 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44584" y="685800"/>
            <a:ext cx="229019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0" i="0" spc="147">
                <a:solidFill>
                  <a:srgbClr val="5D6B79"/>
                </a:solidFill>
                <a:latin typeface="Arial"/>
              </a:rPr>
              <a:t>SUBTITLE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6400"/>
            <a:ext cx="1087755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10">
                <a:solidFill>
                  <a:srgbClr val="5F1937"/>
                </a:solidFill>
                <a:latin typeface="Arial"/>
              </a:rPr>
              <a:t>COURSE, MODULE OR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6450"/>
            <a:ext cx="10820400" cy="112899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4446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spc="-58">
                <a:solidFill>
                  <a:srgbClr val="1A2430"/>
                </a:solidFill>
                <a:latin typeface="Arial"/>
              </a:rPr>
              <a:t>The one sentence that is</a:t>
            </a:r>
          </a:p>
          <a:p>
            <a:pPr algn="l">
              <a:lnSpc>
                <a:spcPts val="4446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spc="-58">
                <a:solidFill>
                  <a:srgbClr val="1A2430"/>
                </a:solidFill>
                <a:latin typeface="Arial"/>
              </a:rPr>
              <a:t>the answer, not the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91198"/>
            <a:ext cx="876300" cy="381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86473"/>
            <a:ext cx="10820400" cy="54292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D6B79"/>
                </a:solidFill>
                <a:latin typeface="Arial"/>
              </a:rPr>
              <a:t>A second line that says what the next minutes deliver,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D6B79"/>
                </a:solidFill>
                <a:latin typeface="Arial"/>
              </a:rPr>
              <a:t>in plain words.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07893"/>
            <a:ext cx="12192000" cy="850106"/>
          </a:xfrm>
          <a:prstGeom prst="rect">
            <a:avLst/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67475"/>
            <a:ext cx="6897719" cy="4310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Given Name Surname, Given Name Surname, Given Name Surname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36493"/>
            <a:ext cx="6954869" cy="1643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3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spc="121">
                <a:solidFill>
                  <a:srgbClr val="C2A0AE"/>
                </a:solidFill>
                <a:latin typeface="Arial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6919" y="6467475"/>
            <a:ext cx="1141380" cy="4310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Programme,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6919" y="6236493"/>
            <a:ext cx="1198530" cy="1643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3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spc="121">
                <a:solidFill>
                  <a:srgbClr val="C2A0AE"/>
                </a:solidFill>
                <a:latin typeface="Arial"/>
              </a:rPr>
              <a:t>GROUP</a:t>
            </a:r>
          </a:p>
        </p:txBody>
      </p:sp>
      <p:pic>
        <p:nvPicPr>
          <p:cNvPr id="14" name="Picture 13" descr="icon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700" y="6218682"/>
            <a:ext cx="17145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197481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SECTION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The action title states the finding, so the slide can be read without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88782"/>
            <a:ext cx="10972800" cy="2199513"/>
          </a:xfrm>
          <a:prstGeom prst="roundRect">
            <a:avLst>
              <a:gd name="adj" fmla="val 433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622107"/>
            <a:ext cx="2618803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THE QUESTION THIS BLOCK ANSWERS</a:t>
            </a:r>
          </a:p>
        </p:txBody>
      </p:sp>
      <p:sp>
        <p:nvSpPr>
          <p:cNvPr id="8" name="Oval 7"/>
          <p:cNvSpPr/>
          <p:nvPr/>
        </p:nvSpPr>
        <p:spPr>
          <a:xfrm>
            <a:off x="1557337" y="1955482"/>
            <a:ext cx="876300" cy="8763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184082"/>
            <a:ext cx="419100" cy="4191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7725" y="2984182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FIRST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498532"/>
            <a:ext cx="2352675" cy="19926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One short line of support</a:t>
            </a:r>
          </a:p>
        </p:txBody>
      </p:sp>
      <p:pic>
        <p:nvPicPr>
          <p:cNvPr id="12" name="Picture 11" descr="icon0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250757"/>
            <a:ext cx="247650" cy="28575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291012" y="1955482"/>
            <a:ext cx="876300" cy="8763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0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612" y="2184082"/>
            <a:ext cx="419100" cy="4191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581400" y="2984182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SECOND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2825" y="3498532"/>
            <a:ext cx="2352675" cy="19926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One short line of support</a:t>
            </a:r>
          </a:p>
        </p:txBody>
      </p:sp>
      <p:pic>
        <p:nvPicPr>
          <p:cNvPr id="17" name="Picture 16" descr="icon0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175" y="2250757"/>
            <a:ext cx="247650" cy="28575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7024687" y="1955482"/>
            <a:ext cx="876300" cy="8763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0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287" y="2184082"/>
            <a:ext cx="419100" cy="4191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315075" y="2984182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THIRD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498532"/>
            <a:ext cx="2352675" cy="19926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One short line of support</a:t>
            </a:r>
          </a:p>
        </p:txBody>
      </p:sp>
      <p:pic>
        <p:nvPicPr>
          <p:cNvPr id="22" name="Picture 21" descr="icon0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850" y="2250757"/>
            <a:ext cx="247650" cy="28575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758362" y="1955482"/>
            <a:ext cx="876300" cy="876300"/>
          </a:xfrm>
          <a:prstGeom prst="ellipse">
            <a:avLst/>
          </a:prstGeom>
          <a:gradFill rotWithShape="1">
            <a:gsLst>
              <a:gs pos="0">
                <a:srgbClr val="D2A049"/>
              </a:gs>
              <a:gs pos="100000">
                <a:srgbClr val="8C5F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0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6962" y="2184082"/>
            <a:ext cx="419100" cy="4191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048750" y="2984182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8C5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THE CAVEAT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0175" y="3498532"/>
            <a:ext cx="2352675" cy="19926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Accent colour marks a warning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4050220"/>
            <a:ext cx="10972800" cy="1001934"/>
          </a:xfrm>
          <a:prstGeom prst="roundRect">
            <a:avLst>
              <a:gd name="adj" fmla="val 9506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625" y="3983545"/>
            <a:ext cx="313563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A SECOND QUESTION, ANSWERED IN BULLETS</a:t>
            </a:r>
          </a:p>
        </p:txBody>
      </p:sp>
      <p:pic>
        <p:nvPicPr>
          <p:cNvPr id="29" name="Picture 28" descr="icon0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317396"/>
            <a:ext cx="20955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71575" y="4326445"/>
            <a:ext cx="3198495" cy="21040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1A2430"/>
                </a:solidFill>
                <a:latin typeface="Arial"/>
              </a:rPr>
              <a:t>One statement per bullet, roughly ten words</a:t>
            </a:r>
          </a:p>
        </p:txBody>
      </p:sp>
      <p:pic>
        <p:nvPicPr>
          <p:cNvPr id="31" name="Picture 30" descr="icon0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9825" y="4317396"/>
            <a:ext cx="209550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43675" y="4326445"/>
            <a:ext cx="3243548" cy="21040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1A2430"/>
                </a:solidFill>
                <a:latin typeface="Arial"/>
              </a:rPr>
              <a:t>No trailing clauses that only restate the point</a:t>
            </a:r>
          </a:p>
        </p:txBody>
      </p:sp>
      <p:pic>
        <p:nvPicPr>
          <p:cNvPr id="33" name="Picture 32" descr="icon0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4642104"/>
            <a:ext cx="2095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71575" y="4651152"/>
            <a:ext cx="3126009" cy="21040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1A2430"/>
                </a:solidFill>
                <a:latin typeface="Arial"/>
              </a:rPr>
              <a:t>Every bullet carries an icon from the library</a:t>
            </a:r>
          </a:p>
        </p:txBody>
      </p:sp>
      <p:pic>
        <p:nvPicPr>
          <p:cNvPr id="35" name="Picture 34" descr="icon00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9825" y="4642104"/>
            <a:ext cx="20955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43675" y="4651152"/>
            <a:ext cx="3414903" cy="21040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1A2430"/>
                </a:solidFill>
                <a:latin typeface="Arial"/>
              </a:rPr>
              <a:t>Keep the count even so the block stays square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" y="5214080"/>
            <a:ext cx="10972800" cy="504825"/>
          </a:xfrm>
          <a:prstGeom prst="roundRect">
            <a:avLst>
              <a:gd name="adj" fmla="val 18867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52400" rIns="228600" bIns="1524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</a:rPr>
              <a:t>The closing band repeats the one thing the audience should remember.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6467475"/>
            <a:ext cx="10972800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646747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6553200"/>
            <a:ext cx="151237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Surname, Surname, Surname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7704" y="6553200"/>
            <a:ext cx="797661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Project or client 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27195" y="6553200"/>
            <a:ext cx="99479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Programme, Group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6286" y="6553200"/>
            <a:ext cx="20326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Q1</a:t>
            </a:r>
          </a:p>
        </p:txBody>
      </p:sp>
      <p:pic>
        <p:nvPicPr>
          <p:cNvPr id="44" name="Picture 43" descr="icon0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197481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SECTION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Comparisons belong in a table with a verdict column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298192"/>
            <a:ext cx="10972800" cy="2043684"/>
          </a:xfrm>
          <a:prstGeom prst="roundRect">
            <a:avLst>
              <a:gd name="adj" fmla="val 466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2231517"/>
            <a:ext cx="3920585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HOW DO THE OPTIONS COMPARE ON THE SAME CRITERIA?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2564891"/>
            <a:ext cx="10496550" cy="247650"/>
          </a:xfrm>
          <a:prstGeom prst="roundRect">
            <a:avLst>
              <a:gd name="adj" fmla="val 15384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2631566"/>
            <a:ext cx="13144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2200" y="2631566"/>
            <a:ext cx="3877532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OPTION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4032" y="2631566"/>
            <a:ext cx="3837717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OPTION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050" y="2631566"/>
            <a:ext cx="10096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BETTER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725" y="2812541"/>
            <a:ext cx="10496550" cy="32756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725" y="3130581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2864929"/>
            <a:ext cx="1314450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First criterion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2200" y="2864929"/>
            <a:ext cx="3877532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one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4032" y="2864929"/>
            <a:ext cx="3837717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two does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06050" y="2864929"/>
            <a:ext cx="882110" cy="218027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Option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725" y="3140106"/>
            <a:ext cx="10496550" cy="332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725" y="3462909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450" y="3197256"/>
            <a:ext cx="1314450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Second criterion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200" y="3197256"/>
            <a:ext cx="3877532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one does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4032" y="3197256"/>
            <a:ext cx="3837717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two does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6050" y="3197256"/>
            <a:ext cx="875157" cy="218027"/>
          </a:xfrm>
          <a:prstGeom prst="roundRect">
            <a:avLst>
              <a:gd name="adj" fmla="val 50000"/>
            </a:avLst>
          </a:prstGeom>
          <a:solidFill>
            <a:srgbClr val="8C5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Option two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3472434"/>
            <a:ext cx="10496550" cy="3323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725" y="3795236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450" y="3529584"/>
            <a:ext cx="1314450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Third criterion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62200" y="3529584"/>
            <a:ext cx="3877532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one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4032" y="3529584"/>
            <a:ext cx="3837717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two does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06050" y="3529584"/>
            <a:ext cx="882110" cy="218027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Option 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725" y="3804761"/>
            <a:ext cx="10496550" cy="332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7725" y="4127563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450" y="3861911"/>
            <a:ext cx="1314450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Fourth criterion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861911"/>
            <a:ext cx="3877532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one does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4032" y="3861911"/>
            <a:ext cx="3837717" cy="2275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option two does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6050" y="3861911"/>
            <a:ext cx="655320" cy="218027"/>
          </a:xfrm>
          <a:prstGeom prst="roundRect">
            <a:avLst>
              <a:gd name="adj" fmla="val 50000"/>
            </a:avLst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Neither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494276"/>
            <a:ext cx="5410200" cy="615219"/>
          </a:xfrm>
          <a:prstGeom prst="rect">
            <a:avLst/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71450" tIns="114300" rIns="171450" bIns="11430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A neutral note:</a:t>
            </a:r>
            <a:r>
              <a:rPr sz="1087" b="0" i="0">
                <a:solidFill>
                  <a:srgbClr val="1A2430"/>
                </a:solidFill>
                <a:latin typeface="Arial"/>
              </a:rPr>
              <a:t> the blue strip carries a qualification that supports the argument.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4494276"/>
            <a:ext cx="47625" cy="615219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494276"/>
            <a:ext cx="5410200" cy="615219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1450" tIns="114300" rIns="171450" bIns="11430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A warning note:</a:t>
            </a:r>
            <a:r>
              <a:rPr sz="1087" b="0" i="0">
                <a:solidFill>
                  <a:srgbClr val="1A2430"/>
                </a:solidFill>
                <a:latin typeface="Arial"/>
              </a:rPr>
              <a:t> the warm strip is reserved for a genuine caution, at most once per slide.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494276"/>
            <a:ext cx="47625" cy="615219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6467475"/>
            <a:ext cx="10972800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646747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6553200"/>
            <a:ext cx="151237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Surname, Surname, Surname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7704" y="6553200"/>
            <a:ext cx="797661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Project or client name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7195" y="6553200"/>
            <a:ext cx="99479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Programme, Group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6286" y="6553200"/>
            <a:ext cx="20326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Q2</a:t>
            </a:r>
          </a:p>
        </p:txBody>
      </p:sp>
      <p:pic>
        <p:nvPicPr>
          <p:cNvPr id="47" name="Picture 46" descr="icon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197481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SECTION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Put the three numbers that decide it above the detail that proves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43696"/>
            <a:ext cx="10972800" cy="1381125"/>
          </a:xfrm>
          <a:prstGeom prst="roundRect">
            <a:avLst>
              <a:gd name="adj" fmla="val 6896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2077021"/>
            <a:ext cx="2321242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DOES EACH OPTION COST?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458021"/>
            <a:ext cx="118110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Option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7875" y="2381821"/>
            <a:ext cx="8343900" cy="304800"/>
          </a:xfrm>
          <a:prstGeom prst="roundRect">
            <a:avLst>
              <a:gd name="adj" fmla="val 12500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47875" y="2381821"/>
            <a:ext cx="1168050" cy="304800"/>
          </a:xfrm>
          <a:prstGeom prst="roundRect">
            <a:avLst>
              <a:gd name="adj" fmla="val 12500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Part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5925" y="2381821"/>
            <a:ext cx="2586513" cy="3048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Part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2448496"/>
            <a:ext cx="93345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62" b="1" i="0">
                <a:solidFill>
                  <a:srgbClr val="5F1937"/>
                </a:solidFill>
                <a:latin typeface="Arial"/>
              </a:rPr>
              <a:t>77,424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877121"/>
            <a:ext cx="118110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Option two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47875" y="2800921"/>
            <a:ext cx="8343900" cy="304800"/>
          </a:xfrm>
          <a:prstGeom prst="roundRect">
            <a:avLst>
              <a:gd name="adj" fmla="val 12500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47875" y="2800921"/>
            <a:ext cx="2669952" cy="304800"/>
          </a:xfrm>
          <a:prstGeom prst="roundRect">
            <a:avLst>
              <a:gd name="adj" fmla="val 12500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Part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7827" y="2800921"/>
            <a:ext cx="3337464" cy="3048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Part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2867596"/>
            <a:ext cx="93345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62" b="1" i="0">
                <a:solidFill>
                  <a:srgbClr val="431127"/>
                </a:solidFill>
                <a:latin typeface="Arial"/>
              </a:rPr>
              <a:t>131,000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220021"/>
            <a:ext cx="1049655" cy="1428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1925" indent="0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D6B79"/>
                </a:solidFill>
                <a:latin typeface="Arial"/>
              </a:rPr>
              <a:t> First component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25" y="3239071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0730" y="3220021"/>
            <a:ext cx="1229010" cy="1428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1925" indent="0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D6B79"/>
                </a:solidFill>
                <a:latin typeface="Arial"/>
              </a:rPr>
              <a:t> Second component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0730" y="3239071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1190" y="3220021"/>
            <a:ext cx="1521618" cy="1428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76200" indent="0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D6B79"/>
                </a:solidFill>
                <a:latin typeface="Arial"/>
              </a:rPr>
              <a:t> The threshold that matters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31190" y="3224784"/>
            <a:ext cx="19050" cy="13335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9600" y="3686746"/>
            <a:ext cx="3543300" cy="1577244"/>
          </a:xfrm>
          <a:prstGeom prst="roundRect">
            <a:avLst>
              <a:gd name="adj" fmla="val 7246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575" y="4305871"/>
            <a:ext cx="3181350" cy="43815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5F1937"/>
                </a:solidFill>
                <a:latin typeface="Arial"/>
              </a:rPr>
              <a:t>EUR 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886896"/>
            <a:ext cx="3238500" cy="1865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79"/>
                </a:solidFill>
                <a:latin typeface="Arial"/>
              </a:rPr>
              <a:t>What this number 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4350" y="3686746"/>
            <a:ext cx="3543300" cy="1577244"/>
          </a:xfrm>
          <a:prstGeom prst="roundRect">
            <a:avLst>
              <a:gd name="adj" fmla="val 7246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5325" y="4305871"/>
            <a:ext cx="3181350" cy="43815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5F1937"/>
                </a:solidFill>
                <a:latin typeface="Arial"/>
              </a:rPr>
              <a:t>00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6750" y="4886896"/>
            <a:ext cx="3238500" cy="1865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79"/>
                </a:solidFill>
                <a:latin typeface="Arial"/>
              </a:rPr>
              <a:t>What this number 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9100" y="3686746"/>
            <a:ext cx="3543300" cy="1577244"/>
          </a:xfrm>
          <a:prstGeom prst="roundRect">
            <a:avLst>
              <a:gd name="adj" fmla="val 7246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075" y="4305871"/>
            <a:ext cx="3181350" cy="43815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8C5F1B"/>
                </a:solidFill>
                <a:latin typeface="Arial"/>
              </a:rPr>
              <a:t>00 %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500" y="4886896"/>
            <a:ext cx="3238500" cy="1865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79"/>
                </a:solidFill>
                <a:latin typeface="Arial"/>
              </a:rPr>
              <a:t>The one in the accent colour is the one that decides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05166" y="2315146"/>
            <a:ext cx="1905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805166" y="2315146"/>
            <a:ext cx="19050" cy="438150"/>
          </a:xfrm>
          <a:prstGeom prst="line">
            <a:avLst/>
          </a:prstGeom>
          <a:ln w="19050">
            <a:solidFill>
              <a:srgbClr val="C08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805166" y="2734246"/>
            <a:ext cx="1905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805166" y="2734246"/>
            <a:ext cx="19050" cy="438150"/>
          </a:xfrm>
          <a:prstGeom prst="line">
            <a:avLst/>
          </a:prstGeom>
          <a:ln w="19050">
            <a:solidFill>
              <a:srgbClr val="C08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09600" y="6467475"/>
            <a:ext cx="10972800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600" y="646747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6553200"/>
            <a:ext cx="151237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Surname, Surname, Surname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07704" y="6553200"/>
            <a:ext cx="797661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Project or client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27195" y="6553200"/>
            <a:ext cx="99479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Programme,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6286" y="6553200"/>
            <a:ext cx="20326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Q3</a:t>
            </a:r>
          </a:p>
        </p:txBody>
      </p:sp>
      <p:pic>
        <p:nvPicPr>
          <p:cNvPr id="43" name="Picture 42" descr="icon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197481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SECTION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A plan is phases with gates, not a list of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451229"/>
            <a:ext cx="10972800" cy="2162175"/>
          </a:xfrm>
          <a:prstGeom prst="roundRect">
            <a:avLst>
              <a:gd name="adj" fmla="val 4405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384554"/>
            <a:ext cx="4841271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HAPPENS, AND WHAT HAS TO BE TRUE BEFORE THE NEXT PHASE?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25" y="1698879"/>
            <a:ext cx="3282886" cy="1743075"/>
          </a:xfrm>
          <a:prstGeom prst="roundRect">
            <a:avLst>
              <a:gd name="adj" fmla="val 5464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2975" y="1813179"/>
            <a:ext cx="3016186" cy="190500"/>
          </a:xfrm>
          <a:prstGeom prst="roundRect">
            <a:avLst>
              <a:gd name="adj" fmla="val 2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WEEKS 1 TO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098929"/>
            <a:ext cx="3016186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happens in this phase, in one or two sentences of equal length to its neighbours.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2975" y="2841879"/>
            <a:ext cx="3016186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76200" rIns="0" bIns="0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5F1937"/>
                </a:solidFill>
                <a:latin typeface="Arial"/>
              </a:rPr>
              <a:t>Gate</a:t>
            </a:r>
            <a:r>
              <a:rPr sz="862" b="0" i="0">
                <a:solidFill>
                  <a:srgbClr val="431127"/>
                </a:solidFill>
                <a:latin typeface="Arial"/>
              </a:rPr>
              <a:t> What must be true to continue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2975" y="2841879"/>
            <a:ext cx="3016186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761" y="2465641"/>
            <a:ext cx="171450" cy="2095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54461" y="1698879"/>
            <a:ext cx="3282981" cy="1743075"/>
          </a:xfrm>
          <a:prstGeom prst="roundRect">
            <a:avLst>
              <a:gd name="adj" fmla="val 5464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7811" y="1813179"/>
            <a:ext cx="3016281" cy="190500"/>
          </a:xfrm>
          <a:prstGeom prst="roundRect">
            <a:avLst>
              <a:gd name="adj" fmla="val 2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WEEKS 3 TO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811" y="2098929"/>
            <a:ext cx="3016281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happens in this phase, in one or two sentences of equal length to its neighbours.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7811" y="2841879"/>
            <a:ext cx="3016281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76200" rIns="0" bIns="0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5F1937"/>
                </a:solidFill>
                <a:latin typeface="Arial"/>
              </a:rPr>
              <a:t>Gate</a:t>
            </a:r>
            <a:r>
              <a:rPr sz="862" b="0" i="0">
                <a:solidFill>
                  <a:srgbClr val="431127"/>
                </a:solidFill>
                <a:latin typeface="Arial"/>
              </a:rPr>
              <a:t> What must be true to continue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87811" y="2841879"/>
            <a:ext cx="3016282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con0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693" y="2465641"/>
            <a:ext cx="171450" cy="2095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099393" y="1698879"/>
            <a:ext cx="3282981" cy="1743075"/>
          </a:xfrm>
          <a:prstGeom prst="roundRect">
            <a:avLst>
              <a:gd name="adj" fmla="val 5464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32743" y="1813179"/>
            <a:ext cx="3016281" cy="190500"/>
          </a:xfrm>
          <a:prstGeom prst="roundRect">
            <a:avLst>
              <a:gd name="adj" fmla="val 20000"/>
            </a:avLst>
          </a:prstGeom>
          <a:solidFill>
            <a:srgbClr val="5D6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MONTHS 2 TO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743" y="2098929"/>
            <a:ext cx="3016281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What happens in this phase, in one or two sentences of equal length to its neighbours.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2743" y="2841879"/>
            <a:ext cx="3016281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76200" rIns="0" bIns="0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5F1937"/>
                </a:solidFill>
                <a:latin typeface="Arial"/>
              </a:rPr>
              <a:t>Gate</a:t>
            </a:r>
            <a:r>
              <a:rPr sz="862" b="0" i="0">
                <a:solidFill>
                  <a:srgbClr val="431127"/>
                </a:solidFill>
                <a:latin typeface="Arial"/>
              </a:rPr>
              <a:t> What must be true to continue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32743" y="2841879"/>
            <a:ext cx="3016282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9600" y="3765804"/>
            <a:ext cx="10972800" cy="2190750"/>
          </a:xfrm>
          <a:prstGeom prst="roundRect">
            <a:avLst>
              <a:gd name="adj" fmla="val 4347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625" y="3699129"/>
            <a:ext cx="2867787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CHANGES UNDER EACH SCENARIO?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725" y="4032504"/>
            <a:ext cx="3409950" cy="1724025"/>
          </a:xfrm>
          <a:prstGeom prst="roundRect">
            <a:avLst>
              <a:gd name="adj" fmla="val 5524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7250" y="4042029"/>
            <a:ext cx="3390900" cy="390525"/>
          </a:xfrm>
          <a:prstGeom prst="rect">
            <a:avLst/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0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137279"/>
            <a:ext cx="200025" cy="2000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57300" y="4151566"/>
            <a:ext cx="828484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2" b="1" i="0">
                <a:solidFill>
                  <a:srgbClr val="FFFFFF"/>
                </a:solidFill>
                <a:latin typeface="Arial"/>
              </a:rPr>
              <a:t>First driver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250" y="4432554"/>
            <a:ext cx="33909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7250" y="4432554"/>
            <a:ext cx="33909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1075" y="4527804"/>
            <a:ext cx="32004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075" y="4680204"/>
            <a:ext cx="3200400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Two lines, so every cell in the row is the same height.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7250" y="5089779"/>
            <a:ext cx="33909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7250" y="5089779"/>
            <a:ext cx="33909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075" y="5185029"/>
            <a:ext cx="32004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ORGANISATION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75" y="5337429"/>
            <a:ext cx="3200400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Two lines, so every cell in the row is the same height.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91025" y="4032504"/>
            <a:ext cx="3409950" cy="1724025"/>
          </a:xfrm>
          <a:prstGeom prst="roundRect">
            <a:avLst>
              <a:gd name="adj" fmla="val 5524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00550" y="4042029"/>
            <a:ext cx="3390900" cy="390525"/>
          </a:xfrm>
          <a:prstGeom prst="rect">
            <a:avLst/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0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4137279"/>
            <a:ext cx="200025" cy="2000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00600" y="4151566"/>
            <a:ext cx="1041844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2" b="1" i="0">
                <a:solidFill>
                  <a:srgbClr val="FFFFFF"/>
                </a:solidFill>
                <a:latin typeface="Arial"/>
              </a:rPr>
              <a:t>Second driver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00550" y="4432554"/>
            <a:ext cx="33909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00550" y="4432554"/>
            <a:ext cx="33909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4375" y="4527804"/>
            <a:ext cx="32004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SOLUTION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4375" y="4680204"/>
            <a:ext cx="3200400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Two lines, so every cell in the row is the same height.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0550" y="5089779"/>
            <a:ext cx="33909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00550" y="5089779"/>
            <a:ext cx="33909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4375" y="5185029"/>
            <a:ext cx="32004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ORGANISATION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4375" y="5337429"/>
            <a:ext cx="3200400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Two lines, so every cell in the row is the same height.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34325" y="4032504"/>
            <a:ext cx="3409950" cy="1724025"/>
          </a:xfrm>
          <a:prstGeom prst="roundRect">
            <a:avLst>
              <a:gd name="adj" fmla="val 5524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43850" y="4042029"/>
            <a:ext cx="3390900" cy="390525"/>
          </a:xfrm>
          <a:prstGeom prst="rect">
            <a:avLst/>
          </a:prstGeom>
          <a:solidFill>
            <a:srgbClr val="8C5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0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4137279"/>
            <a:ext cx="200025" cy="2000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43900" y="4151566"/>
            <a:ext cx="1378172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2" b="1" i="0">
                <a:solidFill>
                  <a:srgbClr val="FFFFFF"/>
                </a:solidFill>
                <a:latin typeface="Arial"/>
              </a:rPr>
              <a:t>The real constraint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43850" y="4432554"/>
            <a:ext cx="33909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43850" y="4432554"/>
            <a:ext cx="33909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67675" y="4527804"/>
            <a:ext cx="32004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8C5F1B"/>
                </a:solidFill>
                <a:latin typeface="Arial"/>
              </a:rPr>
              <a:t>SOLUTION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7675" y="4680204"/>
            <a:ext cx="3200400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The accent column is the one that limits the others.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43850" y="5089779"/>
            <a:ext cx="33909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43850" y="5089779"/>
            <a:ext cx="33909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67675" y="5185029"/>
            <a:ext cx="32004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8C5F1B"/>
                </a:solidFill>
                <a:latin typeface="Arial"/>
              </a:rPr>
              <a:t>ORGANISATION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67675" y="5337429"/>
            <a:ext cx="3200400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Two lines, so every cell in the row is the same height.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600" y="6467475"/>
            <a:ext cx="10972800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" y="646747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9600" y="6553200"/>
            <a:ext cx="151237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Surname, Surname, Surname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07704" y="6553200"/>
            <a:ext cx="797661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Project or client 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27195" y="6553200"/>
            <a:ext cx="99479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Programme, Group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6286" y="6553200"/>
            <a:ext cx="20326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Q4</a:t>
            </a:r>
          </a:p>
        </p:txBody>
      </p:sp>
      <p:pic>
        <p:nvPicPr>
          <p:cNvPr id="69" name="Picture 68" descr="icon00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03914"/>
            <a:ext cx="10877550" cy="1428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95">
                <a:solidFill>
                  <a:srgbClr val="C5BBBF"/>
                </a:solidFill>
                <a:latin typeface="Arial"/>
              </a:rP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6814"/>
            <a:ext cx="10820400" cy="97212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-33">
                <a:solidFill>
                  <a:srgbClr val="FFFFFF"/>
                </a:solidFill>
                <a:latin typeface="Arial"/>
              </a:rPr>
              <a:t>The recommendation in one line,</a:t>
            </a:r>
          </a:p>
          <a:p>
            <a:pPr algn="l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-33">
                <a:solidFill>
                  <a:srgbClr val="FFFFFF"/>
                </a:solidFill>
                <a:latin typeface="Arial"/>
              </a:rPr>
              <a:t>in the words you want repeated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57061"/>
            <a:ext cx="876300" cy="381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480911"/>
            <a:ext cx="2590800" cy="868584"/>
          </a:xfrm>
          <a:prstGeom prst="roundRect">
            <a:avLst>
              <a:gd name="adj" fmla="val 131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" y="3623786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033361"/>
            <a:ext cx="2362200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D5CED1"/>
                </a:solidFill>
                <a:latin typeface="Arial"/>
              </a:rPr>
              <a:t>What it costs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480911"/>
            <a:ext cx="2590800" cy="868584"/>
          </a:xfrm>
          <a:prstGeom prst="roundRect">
            <a:avLst>
              <a:gd name="adj" fmla="val 131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1875" y="3623786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4033361"/>
            <a:ext cx="2362200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D5CED1"/>
                </a:solidFill>
                <a:latin typeface="Arial"/>
              </a:rPr>
              <a:t>What it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80911"/>
            <a:ext cx="2590800" cy="868584"/>
          </a:xfrm>
          <a:prstGeom prst="roundRect">
            <a:avLst>
              <a:gd name="adj" fmla="val 131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075" y="3623786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033361"/>
            <a:ext cx="2362200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D5CED1"/>
                </a:solidFill>
                <a:latin typeface="Arial"/>
              </a:rPr>
              <a:t>Net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480911"/>
            <a:ext cx="2590800" cy="868584"/>
          </a:xfrm>
          <a:prstGeom prst="roundRect">
            <a:avLst>
              <a:gd name="adj" fmla="val 131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8275" y="3623786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700" y="4033361"/>
            <a:ext cx="2362200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D5CED1"/>
                </a:solidFill>
                <a:latin typeface="Arial"/>
              </a:rPr>
              <a:t>What we ask for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597146"/>
            <a:ext cx="3505200" cy="5426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597146"/>
            <a:ext cx="350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965477"/>
            <a:ext cx="3505200" cy="4378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EBED"/>
                </a:solidFill>
                <a:latin typeface="Arial"/>
              </a:rPr>
              <a:t>The single decision you are asking for.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40021"/>
            <a:ext cx="3562350" cy="15878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12">
                <a:solidFill>
                  <a:srgbClr val="B8ACB1"/>
                </a:solidFill>
                <a:latin typeface="Arial"/>
              </a:rPr>
              <a:t>APPROVE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597146"/>
            <a:ext cx="3505200" cy="5426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597146"/>
            <a:ext cx="350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965477"/>
            <a:ext cx="3505200" cy="4378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EBED"/>
                </a:solidFill>
                <a:latin typeface="Arial"/>
              </a:rPr>
              <a:t>What will be measured, and when.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740021"/>
            <a:ext cx="3562350" cy="15878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12">
                <a:solidFill>
                  <a:srgbClr val="B8ACB1"/>
                </a:solidFill>
                <a:latin typeface="Arial"/>
              </a:rPr>
              <a:t>REVIEW ON A 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4597146"/>
            <a:ext cx="3505200" cy="5426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4597146"/>
            <a:ext cx="350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965477"/>
            <a:ext cx="3505200" cy="4378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EBED"/>
                </a:solidFill>
                <a:latin typeface="Arial"/>
              </a:rPr>
              <a:t>The condition under which this answer changes.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740021"/>
            <a:ext cx="3562350" cy="15878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12">
                <a:solidFill>
                  <a:srgbClr val="B8ACB1"/>
                </a:solidFill>
                <a:latin typeface="Arial"/>
              </a:rPr>
              <a:t>REOPENS THE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6467475"/>
            <a:ext cx="10972800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64674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6553200"/>
            <a:ext cx="151237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0A2A8"/>
                </a:solidFill>
                <a:latin typeface="Arial"/>
              </a:rPr>
              <a:t>Surname, Surname, Surname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7704" y="6553200"/>
            <a:ext cx="800080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0A2A8"/>
                </a:solidFill>
                <a:latin typeface="Arial"/>
              </a:rPr>
              <a:t>Project or client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484" y="6553200"/>
            <a:ext cx="99479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0A2A8"/>
                </a:solidFill>
                <a:latin typeface="Arial"/>
              </a:rPr>
              <a:t>Programme,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60480" y="6553200"/>
            <a:ext cx="17907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0A2A8"/>
                </a:solidFill>
                <a:latin typeface="Arial"/>
              </a:rPr>
              <a:t>06</a:t>
            </a:r>
          </a:p>
        </p:txBody>
      </p:sp>
      <p:pic>
        <p:nvPicPr>
          <p:cNvPr id="36" name="Picture 35" descr="icon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19100"/>
            <a:ext cx="1676400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