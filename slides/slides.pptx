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6675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44584" y="438150"/>
            <a:ext cx="2290191" cy="19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75" b="1" i="0" spc="255">
                <a:solidFill>
                  <a:srgbClr val="431127"/>
                </a:solidFill>
                <a:latin typeface="Arial"/>
              </a:rPr>
              <a:t>CLIENT 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44584" y="685800"/>
            <a:ext cx="2290191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62" b="0" i="0" spc="147">
                <a:solidFill>
                  <a:srgbClr val="5D6B79"/>
                </a:solidFill>
                <a:latin typeface="Arial"/>
              </a:rPr>
              <a:t>SUBTITLE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76400"/>
            <a:ext cx="1087755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10">
                <a:solidFill>
                  <a:srgbClr val="5F1937"/>
                </a:solidFill>
                <a:latin typeface="Arial"/>
              </a:rPr>
              <a:t>COURSE, MODULE OR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6450"/>
            <a:ext cx="10820400" cy="112899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one sentence that is</a:t>
            </a:r>
          </a:p>
          <a:p>
            <a:pPr algn="l">
              <a:lnSpc>
                <a:spcPts val="4446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spc="-58">
                <a:solidFill>
                  <a:srgbClr val="1A2430"/>
                </a:solidFill>
                <a:latin typeface="Arial"/>
              </a:rPr>
              <a:t>the answer, not the topic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91198"/>
            <a:ext cx="876300" cy="381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786473"/>
            <a:ext cx="10820400" cy="542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A second line that says what the next minutes deliver,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5D6B79"/>
                </a:solidFill>
                <a:latin typeface="Arial"/>
              </a:rPr>
              <a:t>in plain words.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10275"/>
            <a:ext cx="12192000" cy="847725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57950"/>
            <a:ext cx="6856952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Given Name Surname, Given Name Surname, Given Name Surname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31731"/>
            <a:ext cx="6914102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6152" y="6457950"/>
            <a:ext cx="1182147" cy="42386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FFFFFF"/>
                </a:solidFill>
                <a:latin typeface="Arial"/>
              </a:rPr>
              <a:t>Programme,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6152" y="6231731"/>
            <a:ext cx="1239297" cy="15001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81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 spc="110">
                <a:solidFill>
                  <a:srgbClr val="C2A0AE"/>
                </a:solidFill>
                <a:latin typeface="Arial"/>
              </a:rPr>
              <a:t>GROUP</a:t>
            </a:r>
          </a:p>
        </p:txBody>
      </p:sp>
      <p:pic>
        <p:nvPicPr>
          <p:cNvPr id="14" name="Picture 13" descr="icon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700" y="6219825"/>
            <a:ext cx="1714500" cy="4286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The action title states the finding, so the slide can be read without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671637"/>
            <a:ext cx="10972800" cy="2199513"/>
          </a:xfrm>
          <a:prstGeom prst="roundRect">
            <a:avLst>
              <a:gd name="adj" fmla="val 4330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604962"/>
            <a:ext cx="2512409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THE QUESTION THIS BLOCK ANSWERS</a:t>
            </a:r>
          </a:p>
        </p:txBody>
      </p:sp>
      <p:sp>
        <p:nvSpPr>
          <p:cNvPr id="8" name="Oval 7"/>
          <p:cNvSpPr/>
          <p:nvPr/>
        </p:nvSpPr>
        <p:spPr>
          <a:xfrm>
            <a:off x="1557337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0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937" y="2166937"/>
            <a:ext cx="419100" cy="4191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47725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FIRST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2" name="Picture 11" descr="icon0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2233612"/>
            <a:ext cx="247650" cy="2857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4291012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612" y="2166937"/>
            <a:ext cx="419100" cy="4191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581400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SECOND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2825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17" name="Picture 16" descr="icon0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2233612"/>
            <a:ext cx="247650" cy="28575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7024687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7E2A4B"/>
              </a:gs>
              <a:gs pos="100000">
                <a:srgbClr val="2F0B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0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287" y="2166937"/>
            <a:ext cx="419100" cy="4191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15075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THIRD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One short line of support</a:t>
            </a:r>
          </a:p>
        </p:txBody>
      </p:sp>
      <p:pic>
        <p:nvPicPr>
          <p:cNvPr id="22" name="Picture 21" descr="icon0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850" y="2233612"/>
            <a:ext cx="247650" cy="28575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9758362" y="1938337"/>
            <a:ext cx="876300" cy="876300"/>
          </a:xfrm>
          <a:prstGeom prst="ellipse">
            <a:avLst/>
          </a:prstGeom>
          <a:gradFill rotWithShape="1">
            <a:gsLst>
              <a:gs pos="0">
                <a:srgbClr val="D2A049"/>
              </a:gs>
              <a:gs pos="100000">
                <a:srgbClr val="8C5F1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000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962" y="2166937"/>
            <a:ext cx="419100" cy="41910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048750" y="2967037"/>
            <a:ext cx="2295525" cy="419100"/>
          </a:xfrm>
          <a:prstGeom prst="roundRect">
            <a:avLst>
              <a:gd name="adj" fmla="val 9090"/>
            </a:avLst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5250" tIns="66675" rIns="95250" bIns="66675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74">
                <a:solidFill>
                  <a:srgbClr val="FFFFFF"/>
                </a:solidFill>
                <a:latin typeface="Arial"/>
              </a:rPr>
              <a:t>THE 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0175" y="3481387"/>
            <a:ext cx="2352675" cy="19926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A2430"/>
                </a:solidFill>
                <a:latin typeface="Arial"/>
              </a:rPr>
              <a:t>Accent colour marks a warning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033075"/>
            <a:ext cx="10972800" cy="1036129"/>
          </a:xfrm>
          <a:prstGeom prst="roundRect">
            <a:avLst>
              <a:gd name="adj" fmla="val 9192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625" y="3966400"/>
            <a:ext cx="3006756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A SECOND QUESTION, ANSWERED IN BULLETS</a:t>
            </a:r>
          </a:p>
        </p:txBody>
      </p:sp>
      <p:pic>
        <p:nvPicPr>
          <p:cNvPr id="29" name="Picture 28" descr="icon000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725" y="4306347"/>
            <a:ext cx="209550" cy="2095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62050" y="4309300"/>
            <a:ext cx="3383280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One statement per bullet, roughly ten words</a:t>
            </a:r>
          </a:p>
        </p:txBody>
      </p:sp>
      <p:pic>
        <p:nvPicPr>
          <p:cNvPr id="31" name="Picture 30" descr="icon00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9825" y="4306347"/>
            <a:ext cx="209550" cy="209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34150" y="4309300"/>
            <a:ext cx="3430905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No trailing clauses that only restate the point</a:t>
            </a:r>
          </a:p>
        </p:txBody>
      </p:sp>
      <p:pic>
        <p:nvPicPr>
          <p:cNvPr id="33" name="Picture 32" descr="icon00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725" y="4652962"/>
            <a:ext cx="209550" cy="2095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62050" y="4655915"/>
            <a:ext cx="3306508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Every bullet carries an icon from the library</a:t>
            </a:r>
          </a:p>
        </p:txBody>
      </p:sp>
      <p:pic>
        <p:nvPicPr>
          <p:cNvPr id="35" name="Picture 34" descr="icon00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9825" y="4652962"/>
            <a:ext cx="209550" cy="2095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34150" y="4655915"/>
            <a:ext cx="3612356" cy="222789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A2430"/>
                </a:solidFill>
                <a:latin typeface="Arial"/>
              </a:rPr>
              <a:t>Keep the count even so the block stays square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9600" y="5231130"/>
            <a:ext cx="10972800" cy="504825"/>
          </a:xfrm>
          <a:prstGeom prst="roundRect">
            <a:avLst>
              <a:gd name="adj" fmla="val 18867"/>
            </a:avLst>
          </a:prstGeom>
          <a:gradFill rotWithShape="1">
            <a:gsLst>
              <a:gs pos="0">
                <a:srgbClr val="2F0B1B"/>
              </a:gs>
              <a:gs pos="100000">
                <a:srgbClr val="5F1937"/>
              </a:gs>
            </a:gsLst>
            <a:lin scaled="0" ang="21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52400" rIns="228600" bIns="15240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The closing band repeats the one thing the audience should remember.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Q1</a:t>
            </a:r>
          </a:p>
        </p:txBody>
      </p:sp>
      <p:pic>
        <p:nvPicPr>
          <p:cNvPr id="44" name="Picture 43" descr="icon00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Comparisons belong in a table with a verdict column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285714"/>
            <a:ext cx="10972800" cy="2068734"/>
          </a:xfrm>
          <a:prstGeom prst="roundRect">
            <a:avLst>
              <a:gd name="adj" fmla="val 460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219039"/>
            <a:ext cx="375761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HOW DO THE OPTIONS COMPARE ON THE SAME CRITERIA?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7725" y="2552414"/>
            <a:ext cx="10496550" cy="247650"/>
          </a:xfrm>
          <a:prstGeom prst="roundRect">
            <a:avLst>
              <a:gd name="adj" fmla="val 19230"/>
            </a:avLst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3450" y="2619089"/>
            <a:ext cx="13144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2200" y="2619089"/>
            <a:ext cx="3877532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4032" y="2619089"/>
            <a:ext cx="3837717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06050" y="2619089"/>
            <a:ext cx="1009650" cy="114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2" b="1" i="0" spc="52">
                <a:solidFill>
                  <a:srgbClr val="FFFFFF"/>
                </a:solidFill>
                <a:latin typeface="Arial"/>
              </a:rPr>
              <a:t>BETTER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7725" y="2800064"/>
            <a:ext cx="10496550" cy="333851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7725" y="3124390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" y="2852451"/>
            <a:ext cx="1314450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First criterion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2200" y="2852451"/>
            <a:ext cx="3877532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4032" y="2852451"/>
            <a:ext cx="3837717" cy="2290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06050" y="2852451"/>
            <a:ext cx="907256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7725" y="3133915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7725" y="3463004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450" y="3191065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Second criterion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2200" y="3191065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4032" y="3191065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06050" y="3191065"/>
            <a:ext cx="899922" cy="224313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two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7725" y="3472434"/>
            <a:ext cx="10496550" cy="338613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7725" y="3801522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450" y="3529584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Third criterion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2200" y="3529584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032" y="3529584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6050" y="3529584"/>
            <a:ext cx="907256" cy="224313"/>
          </a:xfrm>
          <a:prstGeom prst="roundRect">
            <a:avLst>
              <a:gd name="adj" fmla="val 5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FFFFFF"/>
                </a:solidFill>
                <a:latin typeface="Arial"/>
              </a:rPr>
              <a:t>Option 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7725" y="3811047"/>
            <a:ext cx="10496550" cy="33861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7725" y="4140136"/>
            <a:ext cx="1049655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3450" y="3868197"/>
            <a:ext cx="1314450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A2430"/>
                </a:solidFill>
                <a:latin typeface="Arial"/>
              </a:rPr>
              <a:t>Fourth criterion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62200" y="3868197"/>
            <a:ext cx="3877532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one does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4032" y="3868197"/>
            <a:ext cx="3837717" cy="23383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A2430"/>
                </a:solidFill>
                <a:latin typeface="Arial"/>
              </a:rPr>
              <a:t>What option two does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6050" y="3868197"/>
            <a:ext cx="671703" cy="224313"/>
          </a:xfrm>
          <a:prstGeom prst="roundRect">
            <a:avLst>
              <a:gd name="adj" fmla="val 50000"/>
            </a:avLst>
          </a:prstGeom>
          <a:solidFill>
            <a:srgbClr val="EE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14300" tIns="28575" rIns="114300" bIns="28575">
            <a:noAutofit/>
          </a:bodyPr>
          <a:lstStyle/>
          <a:p>
            <a:pPr algn="l">
              <a:lnSpc>
                <a:spcPts val="1316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431127"/>
                </a:solidFill>
                <a:latin typeface="Arial"/>
              </a:rPr>
              <a:t>Neither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4506849"/>
            <a:ext cx="5410200" cy="615219"/>
          </a:xfrm>
          <a:prstGeom prst="rect">
            <a:avLst/>
          </a:prstGeom>
          <a:solidFill>
            <a:srgbClr val="F8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neutral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blue strip carries a qualification that supports the argument.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4506849"/>
            <a:ext cx="47625" cy="615219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4506849"/>
            <a:ext cx="5410200" cy="615219"/>
          </a:xfrm>
          <a:prstGeom prst="rect">
            <a:avLst/>
          </a:prstGeom>
          <a:solidFill>
            <a:srgbClr val="F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1450" tIns="114300" rIns="171450" bIns="114300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A warning note:</a:t>
            </a:r>
            <a:r>
              <a:rPr sz="1087" b="0" i="0">
                <a:solidFill>
                  <a:srgbClr val="1A2430"/>
                </a:solidFill>
                <a:latin typeface="Arial"/>
              </a:rPr>
              <a:t> the warm strip is reserved for a genuine caution, at most once per slide.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4506849"/>
            <a:ext cx="47625" cy="615219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Q2</a:t>
            </a:r>
          </a:p>
        </p:txBody>
      </p:sp>
      <p:pic>
        <p:nvPicPr>
          <p:cNvPr id="47" name="Picture 46" descr="icon0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Put the three numbers that decide it above the detail that proves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2140267"/>
            <a:ext cx="10972800" cy="1371600"/>
          </a:xfrm>
          <a:prstGeom prst="roundRect">
            <a:avLst>
              <a:gd name="adj" fmla="val 6944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2073592"/>
            <a:ext cx="2227802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DOES EACH OPTION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2454592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Option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7400" y="2378392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2378392"/>
            <a:ext cx="1165479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2879" y="2378392"/>
            <a:ext cx="2580703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2445067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F1937"/>
                </a:solidFill>
                <a:latin typeface="Arial"/>
              </a:rPr>
              <a:t>77,424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2873692"/>
            <a:ext cx="1181100" cy="152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431127"/>
                </a:solidFill>
                <a:latin typeface="Arial"/>
              </a:rPr>
              <a:t>Option two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2797492"/>
            <a:ext cx="8324850" cy="304800"/>
          </a:xfrm>
          <a:prstGeom prst="roundRect">
            <a:avLst>
              <a:gd name="adj" fmla="val 15625"/>
            </a:avLst>
          </a:prstGeom>
          <a:solidFill>
            <a:srgbClr val="F7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57400" y="2797492"/>
            <a:ext cx="2663856" cy="304800"/>
          </a:xfrm>
          <a:prstGeom prst="roundRect">
            <a:avLst>
              <a:gd name="adj" fmla="val 15625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21256" y="2797492"/>
            <a:ext cx="3329844" cy="304800"/>
          </a:xfrm>
          <a:prstGeom prst="rect">
            <a:avLst/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FFFFFF"/>
                </a:solidFill>
                <a:latin typeface="Arial"/>
              </a:rPr>
              <a:t>Part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2864167"/>
            <a:ext cx="933450" cy="1714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31127"/>
                </a:solidFill>
                <a:latin typeface="Arial"/>
              </a:rPr>
              <a:t>131,000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625" y="3216592"/>
            <a:ext cx="101565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First component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625" y="323088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96725" y="3216592"/>
            <a:ext cx="1187958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1925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Second component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6725" y="323088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6038" y="3216592"/>
            <a:ext cx="1523142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76200" indent="0"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5D6B79"/>
                </a:solidFill>
                <a:latin typeface="Arial"/>
              </a:rPr>
              <a:t> The threshold that matters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56038" y="3216592"/>
            <a:ext cx="19050" cy="13335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960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57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5F1937"/>
                </a:solidFill>
                <a:latin typeface="Arial"/>
              </a:rPr>
              <a:t>EUR 00,000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435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532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5F1937"/>
                </a:solidFill>
                <a:latin typeface="Arial"/>
              </a:rPr>
              <a:t>00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5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What this number 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39100" y="3673792"/>
            <a:ext cx="3543300" cy="1593532"/>
          </a:xfrm>
          <a:prstGeom prst="roundRect">
            <a:avLst>
              <a:gd name="adj" fmla="val 7172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075" y="4292917"/>
            <a:ext cx="3181350" cy="447675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3525"/>
              </a:lnSpc>
              <a:spcBef>
                <a:spcPts val="0"/>
              </a:spcBef>
              <a:spcAft>
                <a:spcPts val="0"/>
              </a:spcAft>
            </a:pPr>
            <a:r>
              <a:rPr sz="3525" b="1" i="0">
                <a:solidFill>
                  <a:srgbClr val="8C5F1B"/>
                </a:solidFill>
                <a:latin typeface="Arial"/>
              </a:rPr>
              <a:t>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4892992"/>
            <a:ext cx="3238500" cy="19335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5D6B79"/>
                </a:solidFill>
                <a:latin typeface="Arial"/>
              </a:rPr>
              <a:t>The one in the accent colour is the one that decides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01451" y="2311717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801451" y="2311717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801451" y="2730817"/>
            <a:ext cx="19050" cy="438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801451" y="2730817"/>
            <a:ext cx="19050" cy="438150"/>
          </a:xfrm>
          <a:prstGeom prst="line">
            <a:avLst/>
          </a:prstGeom>
          <a:ln w="19050">
            <a:solidFill>
              <a:srgbClr val="C08A2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Q3</a:t>
            </a:r>
          </a:p>
        </p:txBody>
      </p:sp>
      <p:pic>
        <p:nvPicPr>
          <p:cNvPr id="43" name="Picture 42" descr="icon0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0302" y="647700"/>
            <a:ext cx="915447" cy="15430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150"/>
              </a:lnSpc>
              <a:spcBef>
                <a:spcPts val="0"/>
              </a:spcBef>
              <a:spcAft>
                <a:spcPts val="0"/>
              </a:spcAft>
            </a:pPr>
            <a:r>
              <a:rPr sz="12150" b="1" i="0">
                <a:solidFill>
                  <a:srgbClr val="F5F1F3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19100"/>
            <a:ext cx="449865" cy="323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 spc="45">
                <a:solidFill>
                  <a:srgbClr val="5F1937"/>
                </a:solidFill>
                <a:latin typeface="Arial"/>
              </a:rPr>
              <a:t>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5665" y="495300"/>
            <a:ext cx="1974818" cy="228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75" b="1" i="0" spc="252">
                <a:solidFill>
                  <a:srgbClr val="1A2430"/>
                </a:solidFill>
                <a:latin typeface="Arial"/>
              </a:rPr>
              <a:t>SECTION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00100"/>
            <a:ext cx="9391650" cy="302133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5F1937"/>
                </a:solidFill>
                <a:latin typeface="Arial"/>
              </a:rPr>
              <a:t>A plan is phases with gates, not a list of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460754"/>
            <a:ext cx="10972800" cy="2162175"/>
          </a:xfrm>
          <a:prstGeom prst="roundRect">
            <a:avLst>
              <a:gd name="adj" fmla="val 440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625" y="1394079"/>
            <a:ext cx="4638198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HAPPENS, AND WHAT HAS TO BE TRUE BEFORE THE NEXT PHASE?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708404"/>
            <a:ext cx="3282886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2975" y="1822704"/>
            <a:ext cx="3016186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1 TO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108454"/>
            <a:ext cx="3016186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2975" y="2851404"/>
            <a:ext cx="3016186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42975" y="2851404"/>
            <a:ext cx="3016186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icon0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761" y="2475166"/>
            <a:ext cx="171450" cy="20955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454461" y="1708404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7811" y="1822704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F1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WEEKS 3 TO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811" y="2108454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7811" y="2851404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87811" y="2851404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icon00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693" y="2475166"/>
            <a:ext cx="171450" cy="20955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099393" y="1708404"/>
            <a:ext cx="3282981" cy="1743075"/>
          </a:xfrm>
          <a:prstGeom prst="roundRect">
            <a:avLst>
              <a:gd name="adj" fmla="val 5464"/>
            </a:avLst>
          </a:prstGeom>
          <a:solidFill>
            <a:srgbClr val="F3F6F9"/>
          </a:solidFill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32743" y="1822704"/>
            <a:ext cx="3016281" cy="190500"/>
          </a:xfrm>
          <a:prstGeom prst="roundRect">
            <a:avLst>
              <a:gd name="adj" fmla="val 20000"/>
            </a:avLst>
          </a:prstGeom>
          <a:solidFill>
            <a:srgbClr val="5D6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6200" tIns="38100" rIns="76200" bIns="3810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74">
                <a:solidFill>
                  <a:srgbClr val="FFFFFF"/>
                </a:solidFill>
                <a:latin typeface="Arial"/>
              </a:rPr>
              <a:t>MONTHS 2 TO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2743" y="2108454"/>
            <a:ext cx="3016281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1A2430"/>
                </a:solidFill>
                <a:latin typeface="Arial"/>
              </a:rPr>
              <a:t>What happens in this phase, in one or two sentences of equal length to its neighbours.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32743" y="2851404"/>
            <a:ext cx="3016281" cy="4762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tIns="76200" rIns="0" bIns="0">
            <a:noAutofit/>
          </a:bodyPr>
          <a:lstStyle/>
          <a:p>
            <a:pPr algn="l">
              <a:lnSpc>
                <a:spcPts val="1188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1937"/>
                </a:solidFill>
                <a:latin typeface="Arial"/>
              </a:rPr>
              <a:t>Gate</a:t>
            </a:r>
            <a:r>
              <a:rPr sz="900" b="0" i="0">
                <a:solidFill>
                  <a:srgbClr val="431127"/>
                </a:solidFill>
                <a:latin typeface="Arial"/>
              </a:rPr>
              <a:t> What must be true to continue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32743" y="2851404"/>
            <a:ext cx="3016282" cy="9525"/>
          </a:xfrm>
          <a:prstGeom prst="line">
            <a:avLst/>
          </a:prstGeom>
          <a:ln w="9525">
            <a:solidFill>
              <a:srgbClr val="D9E0E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9600" y="3775329"/>
            <a:ext cx="10972800" cy="2171700"/>
          </a:xfrm>
          <a:prstGeom prst="roundRect">
            <a:avLst>
              <a:gd name="adj" fmla="val 4385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625" y="3708654"/>
            <a:ext cx="2750534" cy="114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5725" tIns="0" rIns="85725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i="0" spc="82">
                <a:solidFill>
                  <a:srgbClr val="5F1937"/>
                </a:solidFill>
                <a:latin typeface="Arial"/>
              </a:rPr>
              <a:t>WHAT CHANGES UNDER EACH SCENARIO?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77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7250" y="4051554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n00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075" y="4146804"/>
            <a:ext cx="200025" cy="2000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6825" y="4165854"/>
            <a:ext cx="803719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First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2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72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10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0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72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72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10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10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10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00550" y="4051554"/>
            <a:ext cx="3390900" cy="390525"/>
          </a:xfrm>
          <a:prstGeom prst="rect">
            <a:avLst/>
          </a:prstGeom>
          <a:solidFill>
            <a:srgbClr val="431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con0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4375" y="4146804"/>
            <a:ext cx="200025" cy="20002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810125" y="4165854"/>
            <a:ext cx="1010126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Second driver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005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005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43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SOLUTION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43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05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005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243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5F1937"/>
                </a:solidFill>
                <a:latin typeface="Arial"/>
              </a:rPr>
              <a:t>ORGANISATION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43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34325" y="4042029"/>
            <a:ext cx="3409950" cy="1704975"/>
          </a:xfrm>
          <a:prstGeom prst="roundRect">
            <a:avLst>
              <a:gd name="adj" fmla="val 5586"/>
            </a:avLst>
          </a:prstGeom>
          <a:noFill/>
          <a:ln w="9525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43850" y="4051554"/>
            <a:ext cx="3390900" cy="390525"/>
          </a:xfrm>
          <a:prstGeom prst="rect">
            <a:avLst/>
          </a:prstGeom>
          <a:solidFill>
            <a:srgbClr val="8C5F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con0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675" y="4146804"/>
            <a:ext cx="200025" cy="200025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353425" y="4165854"/>
            <a:ext cx="1335405" cy="16192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The real constraint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43850" y="44420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43850" y="44420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7675" y="45373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SOLUTION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7675" y="46802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The accent column is the one that limits the others.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43850" y="5089779"/>
            <a:ext cx="3390900" cy="6477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43850" y="5089779"/>
            <a:ext cx="33909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67675" y="5185029"/>
            <a:ext cx="3200400" cy="1047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2" b="1" i="0" spc="64">
                <a:solidFill>
                  <a:srgbClr val="8C5F1B"/>
                </a:solidFill>
                <a:latin typeface="Arial"/>
              </a:rPr>
              <a:t>ORGANISATION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67675" y="5327904"/>
            <a:ext cx="3200400" cy="3333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306"/>
              </a:lnSpc>
              <a:spcBef>
                <a:spcPts val="0"/>
              </a:spcBef>
              <a:spcAft>
                <a:spcPts val="0"/>
              </a:spcAft>
            </a:pPr>
            <a:r>
              <a:rPr sz="989" b="0" i="0">
                <a:solidFill>
                  <a:srgbClr val="1A2430"/>
                </a:solidFill>
                <a:latin typeface="Arial"/>
              </a:rPr>
              <a:t>Two lines, so every cell in the row is the same height.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D9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Surname, Surname, Surname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70950" y="6534150"/>
            <a:ext cx="7866316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Project or client name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0142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Programme, Group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809" y="6534150"/>
            <a:ext cx="209740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D6B79"/>
                </a:solidFill>
                <a:latin typeface="Arial"/>
              </a:rPr>
              <a:t>Q4</a:t>
            </a:r>
          </a:p>
        </p:txBody>
      </p:sp>
      <p:pic>
        <p:nvPicPr>
          <p:cNvPr id="69" name="Picture 68" descr="icon00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1300" y="285750"/>
            <a:ext cx="1181100" cy="29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0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04105"/>
            <a:ext cx="10877550" cy="14287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i="0" spc="195">
                <a:solidFill>
                  <a:srgbClr val="C5BBBF"/>
                </a:solidFill>
                <a:latin typeface="Arial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47005"/>
            <a:ext cx="10820400" cy="972121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The recommendation in one line,</a:t>
            </a:r>
          </a:p>
          <a:p>
            <a:pPr algn="l">
              <a:lnSpc>
                <a:spcPts val="3828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-33">
                <a:solidFill>
                  <a:srgbClr val="FFFFFF"/>
                </a:solidFill>
                <a:latin typeface="Arial"/>
              </a:rPr>
              <a:t>in the words you want repeated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57251"/>
            <a:ext cx="876300" cy="38100"/>
          </a:xfrm>
          <a:prstGeom prst="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86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it costs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18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it returns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50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Net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481101"/>
            <a:ext cx="2590800" cy="875252"/>
          </a:xfrm>
          <a:prstGeom prst="roundRect">
            <a:avLst>
              <a:gd name="adj" fmla="val 13059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8275" y="3623976"/>
            <a:ext cx="2305050" cy="304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EUR 00,000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9700" y="4033551"/>
            <a:ext cx="2362200" cy="179927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lnSpc>
                <a:spcPts val="1417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D5CED1"/>
                </a:solidFill>
                <a:latin typeface="Arial"/>
              </a:rPr>
              <a:t>What we ask for 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single decision you are asking for.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APPROVE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What will be measured, and when.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REVIEW ON A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4604004"/>
            <a:ext cx="3505200" cy="5355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4604004"/>
            <a:ext cx="350520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0" y="4958524"/>
            <a:ext cx="3505200" cy="430815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576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EEEBED"/>
                </a:solidFill>
                <a:latin typeface="Arial"/>
              </a:rPr>
              <a:t>The condition under which this answer changes.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737354"/>
            <a:ext cx="3562350" cy="14497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lnSpc>
                <a:spcPts val="1141"/>
              </a:lnSpc>
              <a:spcBef>
                <a:spcPts val="0"/>
              </a:spcBef>
              <a:spcAft>
                <a:spcPts val="0"/>
              </a:spcAft>
            </a:pPr>
            <a:r>
              <a:rPr sz="787" b="1" i="0" spc="102">
                <a:solidFill>
                  <a:srgbClr val="B8ACB1"/>
                </a:solidFill>
                <a:latin typeface="Arial"/>
              </a:rPr>
              <a:t>REOPENS THE DECISION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6448425"/>
            <a:ext cx="10972800" cy="2190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9600" y="6448425"/>
            <a:ext cx="109728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1575625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Surname, Surname, Surname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70950" y="6534150"/>
            <a:ext cx="7891653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Project or client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05478" y="6534150"/>
            <a:ext cx="1035367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Programme,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55146" y="6534150"/>
            <a:ext cx="184404" cy="1333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0A2A8"/>
                </a:solidFill>
                <a:latin typeface="Arial"/>
              </a:rPr>
              <a:t>06</a:t>
            </a:r>
          </a:p>
        </p:txBody>
      </p:sp>
      <p:pic>
        <p:nvPicPr>
          <p:cNvPr id="36" name="Picture 35" descr="icon0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419100"/>
            <a:ext cx="1676400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