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 and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and chips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and scenarios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6675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44584" y="438150"/>
            <a:ext cx="2290191" cy="19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75" b="1" i="0" spc="255">
                <a:solidFill>
                  <a:srgbClr val="431127"/>
                </a:solidFill>
                <a:latin typeface="Arial"/>
              </a:rPr>
              <a:t>CLIENT 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44584" y="685800"/>
            <a:ext cx="229019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0" i="0" spc="147">
                <a:solidFill>
                  <a:srgbClr val="5D6B79"/>
                </a:solidFill>
                <a:latin typeface="Arial"/>
              </a:rPr>
              <a:t>SUBTITLE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76400"/>
            <a:ext cx="1087755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10">
                <a:solidFill>
                  <a:srgbClr val="5F1937"/>
                </a:solidFill>
                <a:latin typeface="Arial"/>
              </a:rPr>
              <a:t>COURSE, MODULE OR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6450"/>
            <a:ext cx="10820400" cy="112899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4446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spc="-58">
                <a:solidFill>
                  <a:srgbClr val="1A2430"/>
                </a:solidFill>
                <a:latin typeface="Arial"/>
              </a:rPr>
              <a:t>The one sentence that is</a:t>
            </a:r>
          </a:p>
          <a:p>
            <a:pPr algn="l">
              <a:lnSpc>
                <a:spcPts val="4446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spc="-58">
                <a:solidFill>
                  <a:srgbClr val="1A2430"/>
                </a:solidFill>
                <a:latin typeface="Arial"/>
              </a:rPr>
              <a:t>the answer, not the topic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491198"/>
            <a:ext cx="876300" cy="381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86473"/>
            <a:ext cx="10820400" cy="542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5D6B79"/>
                </a:solidFill>
                <a:latin typeface="Arial"/>
              </a:rPr>
              <a:t>A second line that says what the next minutes deliver,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5D6B79"/>
                </a:solidFill>
                <a:latin typeface="Arial"/>
              </a:rPr>
              <a:t>in plain words.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010275"/>
            <a:ext cx="12192000" cy="847725"/>
          </a:xfrm>
          <a:prstGeom prst="rect">
            <a:avLst/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57950"/>
            <a:ext cx="6856952" cy="42386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FFFFFF"/>
                </a:solidFill>
                <a:latin typeface="Arial"/>
              </a:rPr>
              <a:t>Given Name Surname, Given Name Surname, Given Name Surname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31731"/>
            <a:ext cx="6914102" cy="15001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181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 spc="110">
                <a:solidFill>
                  <a:srgbClr val="C2A0AE"/>
                </a:solidFill>
                <a:latin typeface="Arial"/>
              </a:rPr>
              <a:t>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6152" y="6457950"/>
            <a:ext cx="1182147" cy="42386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FFFFFF"/>
                </a:solidFill>
                <a:latin typeface="Arial"/>
              </a:rPr>
              <a:t>Programme, 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6152" y="6231731"/>
            <a:ext cx="1239297" cy="15001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181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 spc="110">
                <a:solidFill>
                  <a:srgbClr val="C2A0AE"/>
                </a:solidFill>
                <a:latin typeface="Arial"/>
              </a:rPr>
              <a:t>GROUP</a:t>
            </a:r>
          </a:p>
        </p:txBody>
      </p:sp>
      <p:pic>
        <p:nvPicPr>
          <p:cNvPr id="14" name="Picture 13" descr="icon0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700" y="6219825"/>
            <a:ext cx="1714500" cy="4286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1974818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SECTION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The action title states the finding, so the slide can be read without you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671637"/>
            <a:ext cx="10972800" cy="2199513"/>
          </a:xfrm>
          <a:prstGeom prst="roundRect">
            <a:avLst>
              <a:gd name="adj" fmla="val 433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604962"/>
            <a:ext cx="2512409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THE QUESTION THIS BLOCK ANSWERS</a:t>
            </a:r>
          </a:p>
        </p:txBody>
      </p:sp>
      <p:sp>
        <p:nvSpPr>
          <p:cNvPr id="8" name="Oval 7"/>
          <p:cNvSpPr/>
          <p:nvPr/>
        </p:nvSpPr>
        <p:spPr>
          <a:xfrm>
            <a:off x="1557337" y="1938337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0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937" y="2166937"/>
            <a:ext cx="419100" cy="4191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47725" y="2967037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FIRST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3481387"/>
            <a:ext cx="2352675" cy="19926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One short line of support</a:t>
            </a:r>
          </a:p>
        </p:txBody>
      </p:sp>
      <p:pic>
        <p:nvPicPr>
          <p:cNvPr id="12" name="Picture 11" descr="icon0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2233612"/>
            <a:ext cx="247650" cy="28575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4291012" y="1938337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0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9612" y="2166937"/>
            <a:ext cx="419100" cy="4191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581400" y="2967037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SECOND 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2825" y="3481387"/>
            <a:ext cx="2352675" cy="19926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One short line of support</a:t>
            </a:r>
          </a:p>
        </p:txBody>
      </p:sp>
      <p:pic>
        <p:nvPicPr>
          <p:cNvPr id="17" name="Picture 16" descr="icon00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2175" y="2233612"/>
            <a:ext cx="247650" cy="28575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7024687" y="1938337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000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3287" y="2166937"/>
            <a:ext cx="419100" cy="4191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315075" y="2967037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THIRD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6500" y="3481387"/>
            <a:ext cx="2352675" cy="19926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One short line of support</a:t>
            </a:r>
          </a:p>
        </p:txBody>
      </p:sp>
      <p:pic>
        <p:nvPicPr>
          <p:cNvPr id="22" name="Picture 21" descr="icon00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5850" y="2233612"/>
            <a:ext cx="247650" cy="28575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9758362" y="1938337"/>
            <a:ext cx="876300" cy="876300"/>
          </a:xfrm>
          <a:prstGeom prst="ellipse">
            <a:avLst/>
          </a:prstGeom>
          <a:gradFill rotWithShape="1">
            <a:gsLst>
              <a:gs pos="0">
                <a:srgbClr val="D2A049"/>
              </a:gs>
              <a:gs pos="100000">
                <a:srgbClr val="8C5F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000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86962" y="2166937"/>
            <a:ext cx="419100" cy="41910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9048750" y="2967037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8C5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THE CAVEAT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0175" y="3481387"/>
            <a:ext cx="2352675" cy="19926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Accent colour marks a warning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4033075"/>
            <a:ext cx="10972800" cy="1036129"/>
          </a:xfrm>
          <a:prstGeom prst="roundRect">
            <a:avLst>
              <a:gd name="adj" fmla="val 9192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625" y="3966400"/>
            <a:ext cx="3006756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A SECOND QUESTION, ANSWERED IN BULLETS</a:t>
            </a:r>
          </a:p>
        </p:txBody>
      </p:sp>
      <p:pic>
        <p:nvPicPr>
          <p:cNvPr id="29" name="Picture 28" descr="icon000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725" y="4306347"/>
            <a:ext cx="209550" cy="2095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162050" y="4309300"/>
            <a:ext cx="3383280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One statement per bullet, roughly ten words</a:t>
            </a:r>
          </a:p>
        </p:txBody>
      </p:sp>
      <p:pic>
        <p:nvPicPr>
          <p:cNvPr id="31" name="Picture 30" descr="icon00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9825" y="4306347"/>
            <a:ext cx="209550" cy="2095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534150" y="4309300"/>
            <a:ext cx="3430905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No trailing clauses that only restate the point</a:t>
            </a:r>
          </a:p>
        </p:txBody>
      </p:sp>
      <p:pic>
        <p:nvPicPr>
          <p:cNvPr id="33" name="Picture 32" descr="icon00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7725" y="4652962"/>
            <a:ext cx="209550" cy="2095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62050" y="4655915"/>
            <a:ext cx="3306508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Every bullet carries an icon from the library</a:t>
            </a:r>
          </a:p>
        </p:txBody>
      </p:sp>
      <p:pic>
        <p:nvPicPr>
          <p:cNvPr id="35" name="Picture 34" descr="icon00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9825" y="4652962"/>
            <a:ext cx="209550" cy="2095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34150" y="4655915"/>
            <a:ext cx="3612356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Keep the count even so the block stays square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600" y="5231130"/>
            <a:ext cx="10972800" cy="504825"/>
          </a:xfrm>
          <a:prstGeom prst="roundRect">
            <a:avLst>
              <a:gd name="adj" fmla="val 18867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21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52400" rIns="228600" bIns="15240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The closing band repeats the one thing the audience should remember.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600" y="6534150"/>
            <a:ext cx="157562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Surname, Surname, Surname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70950" y="6534150"/>
            <a:ext cx="7866316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Project or client name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80142" y="6534150"/>
            <a:ext cx="1035367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Programme, Group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Q1</a:t>
            </a:r>
          </a:p>
        </p:txBody>
      </p:sp>
      <p:pic>
        <p:nvPicPr>
          <p:cNvPr id="44" name="Picture 43" descr="icon00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1974818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SECTION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Comparisons belong in a table with a verdict column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285714"/>
            <a:ext cx="10972800" cy="2068734"/>
          </a:xfrm>
          <a:prstGeom prst="roundRect">
            <a:avLst>
              <a:gd name="adj" fmla="val 4604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2219039"/>
            <a:ext cx="3757612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HOW DO THE OPTIONS COMPARE ON THE SAME CRITERIA?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7725" y="2552414"/>
            <a:ext cx="10496550" cy="247650"/>
          </a:xfrm>
          <a:prstGeom prst="roundRect">
            <a:avLst>
              <a:gd name="adj" fmla="val 1923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3450" y="2619089"/>
            <a:ext cx="13144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CRITERION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2200" y="2619089"/>
            <a:ext cx="3877532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OPTION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4032" y="2619089"/>
            <a:ext cx="3837717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OPTION TWO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050" y="2619089"/>
            <a:ext cx="10096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BETTER 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7725" y="2800064"/>
            <a:ext cx="10496550" cy="333851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7725" y="3124390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" y="2852451"/>
            <a:ext cx="1314450" cy="2290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First criterion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2200" y="2852451"/>
            <a:ext cx="3877532" cy="2290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one does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4032" y="2852451"/>
            <a:ext cx="3837717" cy="2290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two does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06050" y="2852451"/>
            <a:ext cx="907256" cy="224313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Option 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7725" y="3133915"/>
            <a:ext cx="10496550" cy="33861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7725" y="3463004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450" y="3191065"/>
            <a:ext cx="1314450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Second criterion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2200" y="3191065"/>
            <a:ext cx="3877532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one does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4032" y="3191065"/>
            <a:ext cx="3837717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two does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06050" y="3191065"/>
            <a:ext cx="899922" cy="224313"/>
          </a:xfrm>
          <a:prstGeom prst="roundRect">
            <a:avLst>
              <a:gd name="adj" fmla="val 50000"/>
            </a:avLst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Option two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7725" y="3472434"/>
            <a:ext cx="10496550" cy="338613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7725" y="3801522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450" y="3529584"/>
            <a:ext cx="1314450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Third criterion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62200" y="3529584"/>
            <a:ext cx="3877532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one does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4032" y="3529584"/>
            <a:ext cx="3837717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two does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06050" y="3529584"/>
            <a:ext cx="907256" cy="224313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Option 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7725" y="3811047"/>
            <a:ext cx="10496550" cy="33861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7725" y="4140136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3450" y="3868197"/>
            <a:ext cx="1314450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Fourth criterion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62200" y="3868197"/>
            <a:ext cx="3877532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one does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4032" y="3868197"/>
            <a:ext cx="3837717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two does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06050" y="3868197"/>
            <a:ext cx="671703" cy="224313"/>
          </a:xfrm>
          <a:prstGeom prst="roundRect">
            <a:avLst>
              <a:gd name="adj" fmla="val 50000"/>
            </a:avLst>
          </a:prstGeom>
          <a:solidFill>
            <a:srgbClr val="EE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431127"/>
                </a:solidFill>
                <a:latin typeface="Arial"/>
              </a:rPr>
              <a:t>Neither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4506849"/>
            <a:ext cx="5410200" cy="615219"/>
          </a:xfrm>
          <a:prstGeom prst="rect">
            <a:avLst/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71450" tIns="114300" rIns="171450" bIns="11430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A neutral note:</a:t>
            </a:r>
            <a:r>
              <a:rPr sz="1087" b="0" i="0">
                <a:solidFill>
                  <a:srgbClr val="1A2430"/>
                </a:solidFill>
                <a:latin typeface="Arial"/>
              </a:rPr>
              <a:t> the blue strip carries a qualification that supports the argument.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4506849"/>
            <a:ext cx="47625" cy="615219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4506849"/>
            <a:ext cx="5410200" cy="615219"/>
          </a:xfrm>
          <a:prstGeom prst="rect">
            <a:avLst/>
          </a:prstGeom>
          <a:solidFill>
            <a:srgbClr val="F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1450" tIns="114300" rIns="171450" bIns="11430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A warning note:</a:t>
            </a:r>
            <a:r>
              <a:rPr sz="1087" b="0" i="0">
                <a:solidFill>
                  <a:srgbClr val="1A2430"/>
                </a:solidFill>
                <a:latin typeface="Arial"/>
              </a:rPr>
              <a:t> the warm strip is reserved for a genuine caution, at most once per slide.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2200" y="4506849"/>
            <a:ext cx="47625" cy="615219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6534150"/>
            <a:ext cx="157562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Surname, Surname, Surname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70950" y="6534150"/>
            <a:ext cx="7866316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Project or client name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80142" y="6534150"/>
            <a:ext cx="1035367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Programme, Group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Q2</a:t>
            </a:r>
          </a:p>
        </p:txBody>
      </p:sp>
      <p:pic>
        <p:nvPicPr>
          <p:cNvPr id="47" name="Picture 46" descr="icon0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1974818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SECTION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Put the three numbers that decide it above the detail that proves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140267"/>
            <a:ext cx="10972800" cy="1371600"/>
          </a:xfrm>
          <a:prstGeom prst="roundRect">
            <a:avLst>
              <a:gd name="adj" fmla="val 6944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2073592"/>
            <a:ext cx="2227802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WHAT DOES EACH OPTION COST?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2454592"/>
            <a:ext cx="118110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Option 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7400" y="2378392"/>
            <a:ext cx="8324850" cy="304800"/>
          </a:xfrm>
          <a:prstGeom prst="roundRect">
            <a:avLst>
              <a:gd name="adj" fmla="val 15625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57400" y="2378392"/>
            <a:ext cx="1165479" cy="304800"/>
          </a:xfrm>
          <a:prstGeom prst="roundRect">
            <a:avLst>
              <a:gd name="adj" fmla="val 15625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Part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22879" y="2378392"/>
            <a:ext cx="2580703" cy="3048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Part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2445067"/>
            <a:ext cx="933450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F1937"/>
                </a:solidFill>
                <a:latin typeface="Arial"/>
              </a:rPr>
              <a:t>77,424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625" y="2873692"/>
            <a:ext cx="118110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Option two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57400" y="2797492"/>
            <a:ext cx="8324850" cy="304800"/>
          </a:xfrm>
          <a:prstGeom prst="roundRect">
            <a:avLst>
              <a:gd name="adj" fmla="val 15625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057400" y="2797492"/>
            <a:ext cx="2663856" cy="304800"/>
          </a:xfrm>
          <a:prstGeom prst="roundRect">
            <a:avLst>
              <a:gd name="adj" fmla="val 15625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Part 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21256" y="2797492"/>
            <a:ext cx="3329844" cy="3048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Part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2864167"/>
            <a:ext cx="933450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31127"/>
                </a:solidFill>
                <a:latin typeface="Arial"/>
              </a:rPr>
              <a:t>131,000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625" y="3216592"/>
            <a:ext cx="101565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1925" indent="0"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5D6B79"/>
                </a:solidFill>
                <a:latin typeface="Arial"/>
              </a:rPr>
              <a:t> First component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625" y="323088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96725" y="3216592"/>
            <a:ext cx="1187958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1925" indent="0"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5D6B79"/>
                </a:solidFill>
                <a:latin typeface="Arial"/>
              </a:rPr>
              <a:t> Second component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96725" y="323088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6038" y="3216592"/>
            <a:ext cx="1523142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76200" indent="0"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5D6B79"/>
                </a:solidFill>
                <a:latin typeface="Arial"/>
              </a:rPr>
              <a:t> The threshold that matters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56038" y="3216592"/>
            <a:ext cx="19050" cy="13335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09600" y="3673792"/>
            <a:ext cx="3543300" cy="1593532"/>
          </a:xfrm>
          <a:prstGeom prst="roundRect">
            <a:avLst>
              <a:gd name="adj" fmla="val 7172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575" y="4292917"/>
            <a:ext cx="3181350" cy="447675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3525"/>
              </a:lnSpc>
              <a:spcBef>
                <a:spcPts val="0"/>
              </a:spcBef>
              <a:spcAft>
                <a:spcPts val="0"/>
              </a:spcAft>
            </a:pPr>
            <a:r>
              <a:rPr sz="3525" b="1" i="0">
                <a:solidFill>
                  <a:srgbClr val="5F1937"/>
                </a:solidFill>
                <a:latin typeface="Arial"/>
              </a:rPr>
              <a:t>EUR 00,000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4892992"/>
            <a:ext cx="3238500" cy="19335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5D6B79"/>
                </a:solidFill>
                <a:latin typeface="Arial"/>
              </a:rPr>
              <a:t>What this number 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4350" y="3673792"/>
            <a:ext cx="3543300" cy="1593532"/>
          </a:xfrm>
          <a:prstGeom prst="roundRect">
            <a:avLst>
              <a:gd name="adj" fmla="val 7172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5325" y="4292917"/>
            <a:ext cx="3181350" cy="447675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3525"/>
              </a:lnSpc>
              <a:spcBef>
                <a:spcPts val="0"/>
              </a:spcBef>
              <a:spcAft>
                <a:spcPts val="0"/>
              </a:spcAft>
            </a:pPr>
            <a:r>
              <a:rPr sz="3525" b="1" i="0">
                <a:solidFill>
                  <a:srgbClr val="5F1937"/>
                </a:solidFill>
                <a:latin typeface="Arial"/>
              </a:rPr>
              <a:t>00 months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6750" y="4892992"/>
            <a:ext cx="3238500" cy="19335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5D6B79"/>
                </a:solidFill>
                <a:latin typeface="Arial"/>
              </a:rPr>
              <a:t>What this number 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39100" y="3673792"/>
            <a:ext cx="3543300" cy="1593532"/>
          </a:xfrm>
          <a:prstGeom prst="roundRect">
            <a:avLst>
              <a:gd name="adj" fmla="val 7172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0075" y="4292917"/>
            <a:ext cx="3181350" cy="447675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3525"/>
              </a:lnSpc>
              <a:spcBef>
                <a:spcPts val="0"/>
              </a:spcBef>
              <a:spcAft>
                <a:spcPts val="0"/>
              </a:spcAft>
            </a:pPr>
            <a:r>
              <a:rPr sz="3525" b="1" i="0">
                <a:solidFill>
                  <a:srgbClr val="8C5F1B"/>
                </a:solidFill>
                <a:latin typeface="Arial"/>
              </a:rPr>
              <a:t>00 %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1500" y="4892992"/>
            <a:ext cx="3238500" cy="19335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5D6B79"/>
                </a:solidFill>
                <a:latin typeface="Arial"/>
              </a:rPr>
              <a:t>The one in the accent colour is the one that decides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01451" y="2311717"/>
            <a:ext cx="19050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801451" y="2311717"/>
            <a:ext cx="19050" cy="438150"/>
          </a:xfrm>
          <a:prstGeom prst="line">
            <a:avLst/>
          </a:prstGeom>
          <a:ln w="19050">
            <a:solidFill>
              <a:srgbClr val="C08A2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801451" y="2730817"/>
            <a:ext cx="19050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7801451" y="2730817"/>
            <a:ext cx="19050" cy="438150"/>
          </a:xfrm>
          <a:prstGeom prst="line">
            <a:avLst/>
          </a:prstGeom>
          <a:ln w="19050">
            <a:solidFill>
              <a:srgbClr val="C08A2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157562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Surname, Surname, Surname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70950" y="6534150"/>
            <a:ext cx="7866316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Project or client name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0142" y="6534150"/>
            <a:ext cx="1035367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Programme, Group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Q3</a:t>
            </a:r>
          </a:p>
        </p:txBody>
      </p:sp>
      <p:pic>
        <p:nvPicPr>
          <p:cNvPr id="43" name="Picture 42" descr="icon0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1974818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SECTION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A plan is phases with gates, not a list of activities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460754"/>
            <a:ext cx="10972800" cy="2162175"/>
          </a:xfrm>
          <a:prstGeom prst="roundRect">
            <a:avLst>
              <a:gd name="adj" fmla="val 4405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394079"/>
            <a:ext cx="4638198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WHAT HAPPENS, AND WHAT HAS TO BE TRUE BEFORE THE NEXT PHASE?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625" y="1708404"/>
            <a:ext cx="3282886" cy="1743075"/>
          </a:xfrm>
          <a:prstGeom prst="roundRect">
            <a:avLst>
              <a:gd name="adj" fmla="val 5464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2975" y="1822704"/>
            <a:ext cx="3016186" cy="190500"/>
          </a:xfrm>
          <a:prstGeom prst="roundRect">
            <a:avLst>
              <a:gd name="adj" fmla="val 2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74">
                <a:solidFill>
                  <a:srgbClr val="FFFFFF"/>
                </a:solidFill>
                <a:latin typeface="Arial"/>
              </a:rPr>
              <a:t>WEEKS 1 TO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108454"/>
            <a:ext cx="3016186" cy="666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What happens in this phase, in one or two sentences of equal length to its neighbours.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2975" y="2851404"/>
            <a:ext cx="3016186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76200" rIns="0" bIns="0">
            <a:noAutofit/>
          </a:bodyPr>
          <a:lstStyle/>
          <a:p>
            <a:pPr algn="l">
              <a:lnSpc>
                <a:spcPts val="1188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1937"/>
                </a:solidFill>
                <a:latin typeface="Arial"/>
              </a:rPr>
              <a:t>Gate</a:t>
            </a:r>
            <a:r>
              <a:rPr sz="900" b="0" i="0">
                <a:solidFill>
                  <a:srgbClr val="431127"/>
                </a:solidFill>
                <a:latin typeface="Arial"/>
              </a:rPr>
              <a:t> What must be true to continue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42975" y="2851404"/>
            <a:ext cx="3016186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con0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761" y="2475166"/>
            <a:ext cx="171450" cy="20955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454461" y="1708404"/>
            <a:ext cx="3282981" cy="1743075"/>
          </a:xfrm>
          <a:prstGeom prst="roundRect">
            <a:avLst>
              <a:gd name="adj" fmla="val 5464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87811" y="1822704"/>
            <a:ext cx="3016281" cy="190500"/>
          </a:xfrm>
          <a:prstGeom prst="roundRect">
            <a:avLst>
              <a:gd name="adj" fmla="val 2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74">
                <a:solidFill>
                  <a:srgbClr val="FFFFFF"/>
                </a:solidFill>
                <a:latin typeface="Arial"/>
              </a:rPr>
              <a:t>WEEKS 3 TO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811" y="2108454"/>
            <a:ext cx="3016281" cy="666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What happens in this phase, in one or two sentences of equal length to its neighbours.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87811" y="2851404"/>
            <a:ext cx="3016281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76200" rIns="0" bIns="0">
            <a:noAutofit/>
          </a:bodyPr>
          <a:lstStyle/>
          <a:p>
            <a:pPr algn="l">
              <a:lnSpc>
                <a:spcPts val="1188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1937"/>
                </a:solidFill>
                <a:latin typeface="Arial"/>
              </a:rPr>
              <a:t>Gate</a:t>
            </a:r>
            <a:r>
              <a:rPr sz="900" b="0" i="0">
                <a:solidFill>
                  <a:srgbClr val="431127"/>
                </a:solidFill>
                <a:latin typeface="Arial"/>
              </a:rPr>
              <a:t> What must be true to continue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87811" y="2851404"/>
            <a:ext cx="3016282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icon00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2693" y="2475166"/>
            <a:ext cx="171450" cy="20955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099393" y="1708404"/>
            <a:ext cx="3282981" cy="1743075"/>
          </a:xfrm>
          <a:prstGeom prst="roundRect">
            <a:avLst>
              <a:gd name="adj" fmla="val 5464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32743" y="1822704"/>
            <a:ext cx="3016281" cy="190500"/>
          </a:xfrm>
          <a:prstGeom prst="roundRect">
            <a:avLst>
              <a:gd name="adj" fmla="val 20000"/>
            </a:avLst>
          </a:prstGeom>
          <a:solidFill>
            <a:srgbClr val="5D6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74">
                <a:solidFill>
                  <a:srgbClr val="FFFFFF"/>
                </a:solidFill>
                <a:latin typeface="Arial"/>
              </a:rPr>
              <a:t>MONTHS 2 TO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2743" y="2108454"/>
            <a:ext cx="3016281" cy="666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What happens in this phase, in one or two sentences of equal length to its neighbours.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32743" y="2851404"/>
            <a:ext cx="3016281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76200" rIns="0" bIns="0">
            <a:noAutofit/>
          </a:bodyPr>
          <a:lstStyle/>
          <a:p>
            <a:pPr algn="l">
              <a:lnSpc>
                <a:spcPts val="1188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1937"/>
                </a:solidFill>
                <a:latin typeface="Arial"/>
              </a:rPr>
              <a:t>Gate</a:t>
            </a:r>
            <a:r>
              <a:rPr sz="900" b="0" i="0">
                <a:solidFill>
                  <a:srgbClr val="431127"/>
                </a:solidFill>
                <a:latin typeface="Arial"/>
              </a:rPr>
              <a:t> What must be true to continue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232743" y="2851404"/>
            <a:ext cx="3016282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09600" y="3775329"/>
            <a:ext cx="10972800" cy="2171700"/>
          </a:xfrm>
          <a:prstGeom prst="roundRect">
            <a:avLst>
              <a:gd name="adj" fmla="val 4385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625" y="3708654"/>
            <a:ext cx="2750534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WHAT CHANGES UNDER EACH SCENARIO?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7725" y="4042029"/>
            <a:ext cx="3409950" cy="1704975"/>
          </a:xfrm>
          <a:prstGeom prst="roundRect">
            <a:avLst>
              <a:gd name="adj" fmla="val 5586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7250" y="4051554"/>
            <a:ext cx="3390900" cy="390525"/>
          </a:xfrm>
          <a:prstGeom prst="rect">
            <a:avLst/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on00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075" y="4146804"/>
            <a:ext cx="200025" cy="20002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6825" y="4165854"/>
            <a:ext cx="803719" cy="161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FFFFFF"/>
                </a:solidFill>
                <a:latin typeface="Arial"/>
              </a:rPr>
              <a:t>First driver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250" y="4442079"/>
            <a:ext cx="33909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7250" y="44420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1075" y="4537329"/>
            <a:ext cx="3200400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5F1937"/>
                </a:solidFill>
                <a:latin typeface="Arial"/>
              </a:rPr>
              <a:t>SOLUTION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075" y="46802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7250" y="5089779"/>
            <a:ext cx="33909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7250" y="50897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1075" y="5185029"/>
            <a:ext cx="3200400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5F1937"/>
                </a:solidFill>
                <a:latin typeface="Arial"/>
              </a:rPr>
              <a:t>ORGANISATION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1075" y="53279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91025" y="4042029"/>
            <a:ext cx="3409950" cy="1704975"/>
          </a:xfrm>
          <a:prstGeom prst="roundRect">
            <a:avLst>
              <a:gd name="adj" fmla="val 5586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00550" y="4051554"/>
            <a:ext cx="3390900" cy="390525"/>
          </a:xfrm>
          <a:prstGeom prst="rect">
            <a:avLst/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con00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4375" y="4146804"/>
            <a:ext cx="200025" cy="2000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810125" y="4165854"/>
            <a:ext cx="1010126" cy="161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FFFFFF"/>
                </a:solidFill>
                <a:latin typeface="Arial"/>
              </a:rPr>
              <a:t>Second driver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00550" y="4442079"/>
            <a:ext cx="33909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00550" y="44420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24375" y="4537329"/>
            <a:ext cx="3200400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5F1937"/>
                </a:solidFill>
                <a:latin typeface="Arial"/>
              </a:rPr>
              <a:t>SOLUTION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4375" y="46802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00550" y="5089779"/>
            <a:ext cx="33909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00550" y="50897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24375" y="5185029"/>
            <a:ext cx="3200400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5F1937"/>
                </a:solidFill>
                <a:latin typeface="Arial"/>
              </a:rPr>
              <a:t>ORGANISATION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4375" y="53279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34325" y="4042029"/>
            <a:ext cx="3409950" cy="1704975"/>
          </a:xfrm>
          <a:prstGeom prst="roundRect">
            <a:avLst>
              <a:gd name="adj" fmla="val 5586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43850" y="4051554"/>
            <a:ext cx="3390900" cy="390525"/>
          </a:xfrm>
          <a:prstGeom prst="rect">
            <a:avLst/>
          </a:prstGeom>
          <a:solidFill>
            <a:srgbClr val="8C5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con00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7675" y="4146804"/>
            <a:ext cx="200025" cy="200025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353425" y="4165854"/>
            <a:ext cx="1335405" cy="161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FFFFFF"/>
                </a:solidFill>
                <a:latin typeface="Arial"/>
              </a:rPr>
              <a:t>The real constraint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43850" y="4442079"/>
            <a:ext cx="33909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943850" y="44420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67675" y="4537329"/>
            <a:ext cx="3200400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8C5F1B"/>
                </a:solidFill>
                <a:latin typeface="Arial"/>
              </a:rPr>
              <a:t>SOLUTION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67675" y="46802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The accent column is the one that limits the others.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43850" y="5089779"/>
            <a:ext cx="33909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43850" y="50897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67675" y="5185029"/>
            <a:ext cx="3200400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8C5F1B"/>
                </a:solidFill>
                <a:latin typeface="Arial"/>
              </a:rPr>
              <a:t>ORGANISATION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67675" y="53279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09600" y="6534150"/>
            <a:ext cx="157562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Surname, Surname, Surname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70950" y="6534150"/>
            <a:ext cx="7866316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Project or client name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80142" y="6534150"/>
            <a:ext cx="1035367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Programme, Group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Q4</a:t>
            </a:r>
          </a:p>
        </p:txBody>
      </p:sp>
      <p:pic>
        <p:nvPicPr>
          <p:cNvPr id="69" name="Picture 68" descr="icon002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604105"/>
            <a:ext cx="10877550" cy="1428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i="0" spc="195">
                <a:solidFill>
                  <a:srgbClr val="C5BBBF"/>
                </a:solidFill>
                <a:latin typeface="Arial"/>
              </a:rPr>
              <a:t>OUR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005"/>
            <a:ext cx="10820400" cy="97212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3828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33">
                <a:solidFill>
                  <a:srgbClr val="FFFFFF"/>
                </a:solidFill>
                <a:latin typeface="Arial"/>
              </a:rPr>
              <a:t>The recommendation in one line,</a:t>
            </a:r>
          </a:p>
          <a:p>
            <a:pPr algn="l">
              <a:lnSpc>
                <a:spcPts val="3828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33">
                <a:solidFill>
                  <a:srgbClr val="FFFFFF"/>
                </a:solidFill>
                <a:latin typeface="Arial"/>
              </a:rPr>
              <a:t>in the words you want repeated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157251"/>
            <a:ext cx="876300" cy="381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481101"/>
            <a:ext cx="2590800" cy="875252"/>
          </a:xfrm>
          <a:prstGeom prst="roundRect">
            <a:avLst>
              <a:gd name="adj" fmla="val 130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" y="3623976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4033551"/>
            <a:ext cx="2362200" cy="17992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D5CED1"/>
                </a:solidFill>
                <a:latin typeface="Arial"/>
              </a:rPr>
              <a:t>What it costs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481101"/>
            <a:ext cx="2590800" cy="875252"/>
          </a:xfrm>
          <a:prstGeom prst="roundRect">
            <a:avLst>
              <a:gd name="adj" fmla="val 130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71875" y="3623976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00,000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4033551"/>
            <a:ext cx="2362200" cy="17992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D5CED1"/>
                </a:solidFill>
                <a:latin typeface="Arial"/>
              </a:rPr>
              <a:t>What it returns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481101"/>
            <a:ext cx="2590800" cy="875252"/>
          </a:xfrm>
          <a:prstGeom prst="roundRect">
            <a:avLst>
              <a:gd name="adj" fmla="val 130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5075" y="3623976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6500" y="4033551"/>
            <a:ext cx="2362200" cy="17992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D5CED1"/>
                </a:solidFill>
                <a:latin typeface="Arial"/>
              </a:rPr>
              <a:t>Net 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3481101"/>
            <a:ext cx="2590800" cy="875252"/>
          </a:xfrm>
          <a:prstGeom prst="roundRect">
            <a:avLst>
              <a:gd name="adj" fmla="val 130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8275" y="3623976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00,000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9700" y="4033551"/>
            <a:ext cx="2362200" cy="17992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D5CED1"/>
                </a:solidFill>
                <a:latin typeface="Arial"/>
              </a:rPr>
              <a:t>What we ask for 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604004"/>
            <a:ext cx="3505200" cy="53559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604004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958524"/>
            <a:ext cx="3505200" cy="43081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76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EEEBED"/>
                </a:solidFill>
                <a:latin typeface="Arial"/>
              </a:rPr>
              <a:t>The single decision you are asking for.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37354"/>
            <a:ext cx="3562350" cy="14497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141"/>
              </a:lnSpc>
              <a:spcBef>
                <a:spcPts val="0"/>
              </a:spcBef>
              <a:spcAft>
                <a:spcPts val="0"/>
              </a:spcAft>
            </a:pPr>
            <a:r>
              <a:rPr sz="787" b="1" i="0" spc="102">
                <a:solidFill>
                  <a:srgbClr val="B8ACB1"/>
                </a:solidFill>
                <a:latin typeface="Arial"/>
              </a:rPr>
              <a:t>APPROVE TODAY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4604004"/>
            <a:ext cx="3505200" cy="53559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4604004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4958524"/>
            <a:ext cx="3505200" cy="43081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76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EEEBED"/>
                </a:solidFill>
                <a:latin typeface="Arial"/>
              </a:rPr>
              <a:t>What will be measured, and when.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4737354"/>
            <a:ext cx="3562350" cy="14497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141"/>
              </a:lnSpc>
              <a:spcBef>
                <a:spcPts val="0"/>
              </a:spcBef>
              <a:spcAft>
                <a:spcPts val="0"/>
              </a:spcAft>
            </a:pPr>
            <a:r>
              <a:rPr sz="787" b="1" i="0" spc="102">
                <a:solidFill>
                  <a:srgbClr val="B8ACB1"/>
                </a:solidFill>
                <a:latin typeface="Arial"/>
              </a:rPr>
              <a:t>REVIEW ON A DATE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4604004"/>
            <a:ext cx="3505200" cy="53559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1000" y="4604004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0" y="4958524"/>
            <a:ext cx="3505200" cy="43081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76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EEEBED"/>
                </a:solidFill>
                <a:latin typeface="Arial"/>
              </a:rPr>
              <a:t>The condition under which this answer changes.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737354"/>
            <a:ext cx="3562350" cy="14497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141"/>
              </a:lnSpc>
              <a:spcBef>
                <a:spcPts val="0"/>
              </a:spcBef>
              <a:spcAft>
                <a:spcPts val="0"/>
              </a:spcAft>
            </a:pPr>
            <a:r>
              <a:rPr sz="787" b="1" i="0" spc="102">
                <a:solidFill>
                  <a:srgbClr val="B8ACB1"/>
                </a:solidFill>
                <a:latin typeface="Arial"/>
              </a:rPr>
              <a:t>REOPENS THE DECISION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6534150"/>
            <a:ext cx="157562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0A2A8"/>
                </a:solidFill>
                <a:latin typeface="Arial"/>
              </a:rPr>
              <a:t>Surname, Surname, Surname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70950" y="6534150"/>
            <a:ext cx="7891653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0A2A8"/>
                </a:solidFill>
                <a:latin typeface="Arial"/>
              </a:rPr>
              <a:t>Project or client name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05478" y="6534150"/>
            <a:ext cx="1035367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0A2A8"/>
                </a:solidFill>
                <a:latin typeface="Arial"/>
              </a:rPr>
              <a:t>Programme, Group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55146" y="6534150"/>
            <a:ext cx="18440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0A2A8"/>
                </a:solidFill>
                <a:latin typeface="Arial"/>
              </a:rPr>
              <a:t>06</a:t>
            </a:r>
          </a:p>
        </p:txBody>
      </p:sp>
      <p:pic>
        <p:nvPicPr>
          <p:cNvPr id="36" name="Picture 35" descr="icon0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419100"/>
            <a:ext cx="1676400" cy="4191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