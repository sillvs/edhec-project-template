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Why invest, and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Competitive landscape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Operations and process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Risk versus business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 Cloud versus on-premise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 Concrete technical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 Three-year total cost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 Organizational readiness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Q7 Future scalability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Q8 Pilot and phased 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Q8 Governance and success measures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15.png"/><Relationship Id="rId18" Type="http://schemas.openxmlformats.org/officeDocument/2006/relationships/image" Target="../media/image41.png"/><Relationship Id="rId19" Type="http://schemas.openxmlformats.org/officeDocument/2006/relationships/image" Target="../media/image25.png"/><Relationship Id="rId2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25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25.png"/><Relationship Id="rId1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04305" y="438150"/>
            <a:ext cx="2230469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75" b="1" i="0" spc="255">
                <a:solidFill>
                  <a:srgbClr val="431127"/>
                </a:solidFill>
                <a:latin typeface="Arial"/>
              </a:rPr>
              <a:t>AUDITCERT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4305" y="685800"/>
            <a:ext cx="223046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0" i="0" spc="147">
                <a:solidFill>
                  <a:srgbClr val="5D6B79"/>
                </a:solidFill>
                <a:latin typeface="Arial"/>
              </a:rPr>
              <a:t>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6400"/>
            <a:ext cx="1087755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10">
                <a:solidFill>
                  <a:srgbClr val="5F1937"/>
                </a:solidFill>
                <a:latin typeface="Arial"/>
              </a:rPr>
              <a:t>PHILOWAY CONSULTING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6450"/>
            <a:ext cx="10820400" cy="112899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446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spc="-58">
                <a:solidFill>
                  <a:srgbClr val="1A2430"/>
                </a:solidFill>
                <a:latin typeface="Arial"/>
              </a:rPr>
              <a:t>Adopt AI to release audit capacity</a:t>
            </a:r>
          </a:p>
          <a:p>
            <a:pPr algn="l">
              <a:lnSpc>
                <a:spcPts val="4446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spc="-58">
                <a:solidFill>
                  <a:srgbClr val="1A2430"/>
                </a:solidFill>
                <a:latin typeface="Arial"/>
              </a:rPr>
              <a:t>while protecting client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91198"/>
            <a:ext cx="876300" cy="381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86473"/>
            <a:ext cx="10820400" cy="542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D6B79"/>
                </a:solidFill>
                <a:latin typeface="Arial"/>
              </a:rPr>
              <a:t>Cloud, on-premise, hybrid or wait? A recommendation with its business case,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D6B79"/>
                </a:solidFill>
                <a:latin typeface="Arial"/>
              </a:rPr>
              <a:t>its risk boundary and its implementation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60331"/>
            <a:ext cx="6918293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FFFFFF"/>
                </a:solidFill>
                <a:latin typeface="Arial"/>
              </a:rPr>
              <a:t>Presenter A Presenter B Presenter D Presenter C Silas Zamzow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29350"/>
            <a:ext cx="6975443" cy="1643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spc="121">
                <a:solidFill>
                  <a:srgbClr val="C2A0AE"/>
                </a:solidFill>
                <a:latin typeface="Arial"/>
              </a:rPr>
              <a:t>CONSULTING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7493" y="6460331"/>
            <a:ext cx="1120806" cy="438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FFFFFF"/>
                </a:solidFill>
                <a:latin typeface="Arial"/>
              </a:rPr>
              <a:t>Cohort B, Group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7493" y="6229350"/>
            <a:ext cx="1177956" cy="1643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862" b="0" i="0" spc="121">
                <a:solidFill>
                  <a:srgbClr val="C2A0AE"/>
                </a:solidFill>
                <a:latin typeface="Arial"/>
              </a:rPr>
              <a:t>GROUP</a:t>
            </a:r>
          </a:p>
        </p:txBody>
      </p:sp>
      <p:pic>
        <p:nvPicPr>
          <p:cNvPr id="14" name="Picture 13" descr="icon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700" y="6215062"/>
            <a:ext cx="17145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3264503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STRATEGIC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Why invest in AI and why do it now?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548288"/>
            <a:ext cx="10972800" cy="2398776"/>
          </a:xfrm>
          <a:prstGeom prst="roundRect">
            <a:avLst>
              <a:gd name="adj" fmla="val 397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481613"/>
            <a:ext cx="3282886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WHY INVEST IN AI, AND WHAT BUSINESS VALUE?</a:t>
            </a:r>
          </a:p>
        </p:txBody>
      </p:sp>
      <p:sp>
        <p:nvSpPr>
          <p:cNvPr id="8" name="Oval 7"/>
          <p:cNvSpPr/>
          <p:nvPr/>
        </p:nvSpPr>
        <p:spPr>
          <a:xfrm>
            <a:off x="1557337" y="1814988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043588"/>
            <a:ext cx="419100" cy="419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7725" y="2843688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RELEASE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58038"/>
            <a:ext cx="2295525" cy="39852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Search and preparation absorb hours clients do not pay for</a:t>
            </a:r>
          </a:p>
        </p:txBody>
      </p:sp>
      <p:pic>
        <p:nvPicPr>
          <p:cNvPr id="12" name="Picture 11" descr="icon0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110263"/>
            <a:ext cx="247650" cy="28575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291012" y="1814988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0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612" y="2043588"/>
            <a:ext cx="419100" cy="4191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581400" y="2843688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DEFEND THE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358038"/>
            <a:ext cx="2295525" cy="39852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Faster, evidence-backed findings at unchanged independence</a:t>
            </a:r>
          </a:p>
        </p:txBody>
      </p:sp>
      <p:pic>
        <p:nvPicPr>
          <p:cNvPr id="17" name="Picture 16" descr="icon0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2110263"/>
            <a:ext cx="247650" cy="28575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7024687" y="1814988"/>
            <a:ext cx="876300" cy="8763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0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287" y="2043588"/>
            <a:ext cx="419100" cy="4191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15075" y="2843688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OWN THE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3358038"/>
            <a:ext cx="2295525" cy="39852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Our case knowledge is what rivals cannot buy</a:t>
            </a:r>
          </a:p>
        </p:txBody>
      </p:sp>
      <p:pic>
        <p:nvPicPr>
          <p:cNvPr id="22" name="Picture 21" descr="icon0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0" y="2110263"/>
            <a:ext cx="247650" cy="28575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758362" y="1814988"/>
            <a:ext cx="876300" cy="876300"/>
          </a:xfrm>
          <a:prstGeom prst="ellipse">
            <a:avLst/>
          </a:prstGeom>
          <a:gradFill rotWithShape="1">
            <a:gsLst>
              <a:gs pos="0">
                <a:srgbClr val="D2A049"/>
              </a:gs>
              <a:gs pos="100000">
                <a:srgbClr val="8C5F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0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6962" y="2043588"/>
            <a:ext cx="419100" cy="4191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048750" y="2843688"/>
            <a:ext cx="2295525" cy="419100"/>
          </a:xfrm>
          <a:prstGeom prst="roundRect">
            <a:avLst>
              <a:gd name="adj" fmla="val 9090"/>
            </a:avLst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74">
                <a:solidFill>
                  <a:srgbClr val="FFFFFF"/>
                </a:solidFill>
                <a:latin typeface="Arial"/>
              </a:rPr>
              <a:t>COST OF WAITING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0" y="3358038"/>
            <a:ext cx="2295525" cy="39852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The prerequisites take calendar time whenever we decide to start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4108989"/>
            <a:ext cx="10972800" cy="1036129"/>
          </a:xfrm>
          <a:prstGeom prst="roundRect">
            <a:avLst>
              <a:gd name="adj" fmla="val 9192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625" y="4042314"/>
            <a:ext cx="3013805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IS THE RISK OF NOT INVESTING NOW?</a:t>
            </a:r>
          </a:p>
        </p:txBody>
      </p:sp>
      <p:pic>
        <p:nvPicPr>
          <p:cNvPr id="29" name="Picture 28" descr="icon0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382262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62050" y="4385214"/>
            <a:ext cx="4202620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Peers already run internal assistants at far larger scale</a:t>
            </a:r>
          </a:p>
        </p:txBody>
      </p:sp>
      <p:pic>
        <p:nvPicPr>
          <p:cNvPr id="31" name="Picture 30" descr="icon0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9825" y="4382262"/>
            <a:ext cx="209550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34150" y="4385214"/>
            <a:ext cx="4008882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Every client must sign an ICT agreement before use</a:t>
            </a:r>
          </a:p>
        </p:txBody>
      </p:sp>
      <p:pic>
        <p:nvPicPr>
          <p:cNvPr id="33" name="Picture 32" descr="icon0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4728876"/>
            <a:ext cx="2095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2050" y="4731829"/>
            <a:ext cx="4717446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Our accreditation body expects notice before first deployment</a:t>
            </a:r>
          </a:p>
        </p:txBody>
      </p:sp>
      <p:pic>
        <p:nvPicPr>
          <p:cNvPr id="35" name="Picture 34" descr="icon0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9825" y="4728876"/>
            <a:ext cx="20955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34150" y="4731829"/>
            <a:ext cx="438416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Auditors are now expected to understand AI-using clients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5316569"/>
            <a:ext cx="10972800" cy="542925"/>
          </a:xfrm>
          <a:prstGeom prst="roundRect">
            <a:avLst>
              <a:gd name="adj" fmla="val 17543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71450" rIns="228600" bIns="17145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Waiting does not postpone the prerequisites. It only delays the pay-off.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Q1</a:t>
            </a:r>
          </a:p>
        </p:txBody>
      </p:sp>
      <p:pic>
        <p:nvPicPr>
          <p:cNvPr id="44" name="Picture 43" descr="icon0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3264503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STRATEGIC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Our peers already run their own AI assistants, and they built them the way we propose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096833"/>
            <a:ext cx="5391150" cy="2152173"/>
          </a:xfrm>
          <a:prstGeom prst="roundRect">
            <a:avLst>
              <a:gd name="adj" fmla="val 4425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030158"/>
            <a:ext cx="3533203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HOW ARE COMPETITORS ALREADY INTEGRATING AI?</a:t>
            </a:r>
          </a:p>
        </p:txBody>
      </p:sp>
      <p:pic>
        <p:nvPicPr>
          <p:cNvPr id="8" name="Picture 7" descr="icon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70105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50" y="2373058"/>
            <a:ext cx="3821334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Two sector peers run their own internal assistants</a:t>
            </a:r>
          </a:p>
        </p:txBody>
      </p:sp>
      <p:pic>
        <p:nvPicPr>
          <p:cNvPr id="10" name="Picture 9" descr="icon0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3577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50" y="2738723"/>
            <a:ext cx="4278915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Retrieval over standards, past reports and prior findings</a:t>
            </a:r>
          </a:p>
        </p:txBody>
      </p:sp>
      <p:pic>
        <p:nvPicPr>
          <p:cNvPr id="12" name="Picture 11" descr="icon0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101435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50" y="3104388"/>
            <a:ext cx="460352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Used for preparation, drafting findings and knowledge reuse</a:t>
            </a:r>
          </a:p>
        </p:txBody>
      </p:sp>
      <p:pic>
        <p:nvPicPr>
          <p:cNvPr id="14" name="Picture 13" descr="icon0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467100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2050" y="3470052"/>
            <a:ext cx="4241292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Deployed on business cloud rather than local hardware</a:t>
            </a:r>
          </a:p>
        </p:txBody>
      </p:sp>
      <p:pic>
        <p:nvPicPr>
          <p:cNvPr id="16" name="Picture 15" descr="icon0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832764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62050" y="3835717"/>
            <a:ext cx="4561998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Internal use only, under documented confidentiality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1250" y="2096833"/>
            <a:ext cx="5391150" cy="2152173"/>
          </a:xfrm>
          <a:prstGeom prst="roundRect">
            <a:avLst>
              <a:gd name="adj" fmla="val 4425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1275" y="2030158"/>
            <a:ext cx="3683603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DOES THIS IMPLY FOR A TWENTY-PERSON FIRM?</a:t>
            </a:r>
          </a:p>
        </p:txBody>
      </p:sp>
      <p:pic>
        <p:nvPicPr>
          <p:cNvPr id="20" name="Picture 19" descr="icon00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370105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43700" y="2373058"/>
            <a:ext cx="4269390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No competitor published a measured productivity return</a:t>
            </a:r>
          </a:p>
        </p:txBody>
      </p:sp>
      <p:pic>
        <p:nvPicPr>
          <p:cNvPr id="22" name="Picture 21" descr="icon00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735770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43700" y="2738723"/>
            <a:ext cx="4059745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The architecture is proven, the business case is ours</a:t>
            </a:r>
          </a:p>
        </p:txBody>
      </p:sp>
      <p:pic>
        <p:nvPicPr>
          <p:cNvPr id="24" name="Picture 23" descr="icon00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3101435"/>
            <a:ext cx="2095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43700" y="3104388"/>
            <a:ext cx="262394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We compete on internal efficiency</a:t>
            </a:r>
          </a:p>
        </p:txBody>
      </p:sp>
      <p:pic>
        <p:nvPicPr>
          <p:cNvPr id="26" name="Picture 25" descr="icon00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467100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43700" y="3470052"/>
            <a:ext cx="4460271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Auditor AI competence sits in our scope and costs training</a:t>
            </a:r>
          </a:p>
        </p:txBody>
      </p:sp>
      <p:pic>
        <p:nvPicPr>
          <p:cNvPr id="28" name="Picture 27" descr="icon002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3832764"/>
            <a:ext cx="20955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43700" y="3835717"/>
            <a:ext cx="430796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Becoming an accredited ISO 42001 body is out of 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4391882"/>
            <a:ext cx="10972800" cy="601884"/>
          </a:xfrm>
          <a:prstGeom prst="rect">
            <a:avLst/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4391882"/>
            <a:ext cx="47625" cy="601884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002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4515707"/>
            <a:ext cx="19050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3950" y="4515707"/>
            <a:ext cx="10287000" cy="3732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Not the same thing: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SGS, DEKRA, TÜV, DNV and LRQA now sell certification </a:t>
            </a:r>
            <a:r>
              <a:rPr sz="1050" b="0" i="1">
                <a:solidFill>
                  <a:srgbClr val="1A2430"/>
                </a:solidFill>
                <a:latin typeface="Arial"/>
              </a:rPr>
              <a:t>of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client AI systems. Selling assurance about AI is a service decision. Running an assistant inside the audit process is the operational benchmark, and that is the one we are measuring ourselves against.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5127117"/>
            <a:ext cx="10972800" cy="485775"/>
          </a:xfrm>
          <a:prstGeom prst="roundRect">
            <a:avLst>
              <a:gd name="adj" fmla="val 19607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42875" rIns="228600" bIns="142875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FFFFFF"/>
                </a:solidFill>
                <a:latin typeface="Arial"/>
              </a:rPr>
              <a:t>Nobody is ahead on measured productivity. The race is on lead time.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Q1</a:t>
            </a:r>
          </a:p>
        </p:txBody>
      </p:sp>
      <p:pic>
        <p:nvPicPr>
          <p:cNvPr id="41" name="Picture 40" descr="icon002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4615624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OPERATIONS AND PROCESS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AI supports each audit step, while auditors remain accountable for the final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767173"/>
            <a:ext cx="10972800" cy="2986944"/>
          </a:xfrm>
          <a:prstGeom prst="roundRect">
            <a:avLst>
              <a:gd name="adj" fmla="val 3188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700498"/>
            <a:ext cx="5402294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HOW COULD AI AFFECT EACH STEP, AND MUST THE STEP BE REDESIGNED FIRST?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25" y="2014823"/>
            <a:ext cx="2013966" cy="643794"/>
          </a:xfrm>
          <a:prstGeom prst="roundRect">
            <a:avLst>
              <a:gd name="adj" fmla="val 7397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0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49" y="2119598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4799" y="2129123"/>
            <a:ext cx="297846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395823"/>
            <a:ext cx="1918716" cy="1484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Audit preparation</a:t>
            </a:r>
          </a:p>
        </p:txBody>
      </p:sp>
      <p:pic>
        <p:nvPicPr>
          <p:cNvPr id="12" name="Picture 11" descr="icon0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933" y="2706338"/>
            <a:ext cx="133350" cy="1714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9625" y="2934938"/>
            <a:ext cx="2013966" cy="952500"/>
          </a:xfrm>
          <a:prstGeom prst="roundRect">
            <a:avLst>
              <a:gd name="adj" fmla="val 6000"/>
            </a:avLst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1138"/>
            <a:ext cx="186156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AI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73063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173063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Retrieve prior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9468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369468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Draft the audit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25" y="3944588"/>
            <a:ext cx="2013966" cy="6477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925" y="4030313"/>
            <a:ext cx="988695" cy="171450"/>
          </a:xfrm>
          <a:prstGeom prst="roundRect">
            <a:avLst>
              <a:gd name="adj" fmla="val 44444"/>
            </a:avLst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28575" rIns="85725" bIns="2857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60">
                <a:solidFill>
                  <a:srgbClr val="431127"/>
                </a:solidFill>
                <a:latin typeface="Arial"/>
              </a:rPr>
              <a:t>ACCELERATE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249388"/>
            <a:ext cx="1785366" cy="3167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Only after access rights and versions are clean</a:t>
            </a:r>
          </a:p>
        </p:txBody>
      </p:sp>
      <p:pic>
        <p:nvPicPr>
          <p:cNvPr id="22" name="Picture 21" descr="icon0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691" y="2243423"/>
            <a:ext cx="190500" cy="1333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090291" y="2014823"/>
            <a:ext cx="2014061" cy="643794"/>
          </a:xfrm>
          <a:prstGeom prst="roundRect">
            <a:avLst>
              <a:gd name="adj" fmla="val 7397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00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810" y="2119598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05560" y="2129123"/>
            <a:ext cx="297846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7916" y="2395823"/>
            <a:ext cx="1918811" cy="1484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Document review</a:t>
            </a:r>
          </a:p>
        </p:txBody>
      </p:sp>
      <p:pic>
        <p:nvPicPr>
          <p:cNvPr id="27" name="Picture 26" descr="icon00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599" y="2706338"/>
            <a:ext cx="133350" cy="1714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090291" y="2934938"/>
            <a:ext cx="2014061" cy="952500"/>
          </a:xfrm>
          <a:prstGeom prst="roundRect">
            <a:avLst>
              <a:gd name="adj" fmla="val 6000"/>
            </a:avLst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95066" y="3011138"/>
            <a:ext cx="186166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AI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5066" y="3173063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8891" y="3173063"/>
            <a:ext cx="1737836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Match evidence to ISO clauses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95066" y="3369468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8891" y="3369468"/>
            <a:ext cx="1737836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Flag gaps and contradictions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90291" y="3944588"/>
            <a:ext cx="2014061" cy="6477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4591" y="4030313"/>
            <a:ext cx="1197959" cy="171450"/>
          </a:xfrm>
          <a:prstGeom prst="roundRect">
            <a:avLst>
              <a:gd name="adj" fmla="val 44444"/>
            </a:avLst>
          </a:prstGeom>
          <a:solidFill>
            <a:srgbClr val="F2E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28575" rIns="85725" bIns="2857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60">
                <a:solidFill>
                  <a:srgbClr val="8C5F1B"/>
                </a:solidFill>
                <a:latin typeface="Arial"/>
              </a:rPr>
              <a:t>REDESIGN FIRST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4591" y="4249388"/>
            <a:ext cx="1785461" cy="3167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Mandatory document ID, version and client tag</a:t>
            </a:r>
          </a:p>
        </p:txBody>
      </p:sp>
      <p:pic>
        <p:nvPicPr>
          <p:cNvPr id="37" name="Picture 36" descr="icon00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2452" y="2243423"/>
            <a:ext cx="190500" cy="1333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371052" y="2014823"/>
            <a:ext cx="2013966" cy="643794"/>
          </a:xfrm>
          <a:prstGeom prst="roundRect">
            <a:avLst>
              <a:gd name="adj" fmla="val 7397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con00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476" y="2119598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86226" y="2129123"/>
            <a:ext cx="297846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8677" y="2395823"/>
            <a:ext cx="1918716" cy="1484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Fieldwork</a:t>
            </a:r>
          </a:p>
        </p:txBody>
      </p:sp>
      <p:pic>
        <p:nvPicPr>
          <p:cNvPr id="42" name="Picture 41" descr="icon003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1360" y="2706338"/>
            <a:ext cx="133350" cy="17145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371052" y="2934938"/>
            <a:ext cx="2013966" cy="952500"/>
          </a:xfrm>
          <a:prstGeom prst="roundRect">
            <a:avLst>
              <a:gd name="adj" fmla="val 6000"/>
            </a:avLst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75827" y="3011138"/>
            <a:ext cx="186156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AI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5827" y="3173063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9652" y="3173063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Structure authorised 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5827" y="3369468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9652" y="3369468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Suggest follow-up questions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71052" y="3944588"/>
            <a:ext cx="2013966" cy="6477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5352" y="4030313"/>
            <a:ext cx="988695" cy="171450"/>
          </a:xfrm>
          <a:prstGeom prst="roundRect">
            <a:avLst>
              <a:gd name="adj" fmla="val 44444"/>
            </a:avLst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28575" rIns="85725" bIns="2857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60">
                <a:solidFill>
                  <a:srgbClr val="431127"/>
                </a:solidFill>
                <a:latin typeface="Arial"/>
              </a:rPr>
              <a:t>ACCELERATE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5352" y="4249388"/>
            <a:ext cx="1785366" cy="3167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Assist only, no emotion or credibility inference</a:t>
            </a:r>
          </a:p>
        </p:txBody>
      </p:sp>
      <p:pic>
        <p:nvPicPr>
          <p:cNvPr id="52" name="Picture 51" descr="icon003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3118" y="2243423"/>
            <a:ext cx="190500" cy="13335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651718" y="2014823"/>
            <a:ext cx="2013966" cy="643794"/>
          </a:xfrm>
          <a:prstGeom prst="roundRect">
            <a:avLst>
              <a:gd name="adj" fmla="val 7397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con003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1142" y="2119598"/>
            <a:ext cx="228600" cy="228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66892" y="2129123"/>
            <a:ext cx="297846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0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343" y="2395823"/>
            <a:ext cx="1918716" cy="14849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Arial"/>
              </a:rPr>
              <a:t>Report writing</a:t>
            </a:r>
          </a:p>
        </p:txBody>
      </p:sp>
      <p:pic>
        <p:nvPicPr>
          <p:cNvPr id="57" name="Picture 56" descr="icon003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2026" y="2706338"/>
            <a:ext cx="133350" cy="17145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651718" y="2934938"/>
            <a:ext cx="2013966" cy="952500"/>
          </a:xfrm>
          <a:prstGeom prst="roundRect">
            <a:avLst>
              <a:gd name="adj" fmla="val 6000"/>
            </a:avLst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56493" y="3011138"/>
            <a:ext cx="1861566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AI SUPPORT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6493" y="3173063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0318" y="3173063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Draft findings with sources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56493" y="3369468"/>
            <a:ext cx="285750" cy="1866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0318" y="3369468"/>
            <a:ext cx="1737741" cy="158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Assemble the first draft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51718" y="3944588"/>
            <a:ext cx="2013966" cy="6477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66018" y="4030313"/>
            <a:ext cx="1197959" cy="171450"/>
          </a:xfrm>
          <a:prstGeom prst="roundRect">
            <a:avLst>
              <a:gd name="adj" fmla="val 44444"/>
            </a:avLst>
          </a:prstGeom>
          <a:solidFill>
            <a:srgbClr val="F2E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28575" rIns="85725" bIns="2857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60">
                <a:solidFill>
                  <a:srgbClr val="8C5F1B"/>
                </a:solidFill>
                <a:latin typeface="Arial"/>
              </a:rPr>
              <a:t>REDESIGN FIRST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66018" y="4249388"/>
            <a:ext cx="1785366" cy="31670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Split drafting from approval, record ICT use</a:t>
            </a:r>
          </a:p>
        </p:txBody>
      </p:sp>
      <p:pic>
        <p:nvPicPr>
          <p:cNvPr id="67" name="Picture 66" descr="icon003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3784" y="2243423"/>
            <a:ext cx="190500" cy="13335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932384" y="2014823"/>
            <a:ext cx="1449990" cy="2577369"/>
          </a:xfrm>
          <a:prstGeom prst="roundRect">
            <a:avLst>
              <a:gd name="adj" fmla="val 3941"/>
            </a:avLst>
          </a:prstGeom>
          <a:solidFill>
            <a:srgbClr val="F8F1F4"/>
          </a:solidFill>
          <a:ln w="19050">
            <a:solidFill>
              <a:srgbClr val="5F1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con003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36161" y="2897790"/>
            <a:ext cx="228600" cy="228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712386" y="2907315"/>
            <a:ext cx="194786" cy="19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F1937"/>
                </a:solidFill>
                <a:latin typeface="Arial"/>
              </a:rPr>
              <a:t>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3384" y="3202590"/>
            <a:ext cx="687990" cy="2970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Approved</a:t>
            </a:r>
          </a:p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audit 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8234" y="3585400"/>
            <a:ext cx="798004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9"/>
                </a:solidFill>
                <a:latin typeface="Arial"/>
              </a:rPr>
              <a:t>Human sign-off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9600" y="4906613"/>
            <a:ext cx="10972800" cy="1036129"/>
          </a:xfrm>
          <a:prstGeom prst="roundRect">
            <a:avLst>
              <a:gd name="adj" fmla="val 9192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9625" y="4839938"/>
            <a:ext cx="3474434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HAS TO EXIST BEFORE ANY OF THIS WORKS?</a:t>
            </a:r>
          </a:p>
        </p:txBody>
      </p:sp>
      <p:pic>
        <p:nvPicPr>
          <p:cNvPr id="75" name="Picture 74" descr="icon003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5179790"/>
            <a:ext cx="209550" cy="2095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162050" y="5182838"/>
            <a:ext cx="3259359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Knowledge management has to come first</a:t>
            </a:r>
          </a:p>
        </p:txBody>
      </p:sp>
      <p:pic>
        <p:nvPicPr>
          <p:cNvPr id="77" name="Picture 76" descr="icon004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9825" y="5179790"/>
            <a:ext cx="209550" cy="20955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534150" y="5182838"/>
            <a:ext cx="4821840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A curated, permissioned base must exist before retrieval works</a:t>
            </a:r>
          </a:p>
        </p:txBody>
      </p:sp>
      <p:pic>
        <p:nvPicPr>
          <p:cNvPr id="79" name="Picture 78" descr="icon00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725" y="5526405"/>
            <a:ext cx="209550" cy="20955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62050" y="5529453"/>
            <a:ext cx="4450556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The audit RAG searches that base and cites every source</a:t>
            </a:r>
          </a:p>
        </p:txBody>
      </p:sp>
      <p:pic>
        <p:nvPicPr>
          <p:cNvPr id="81" name="Picture 80" descr="icon004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9825" y="5526405"/>
            <a:ext cx="209550" cy="20955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534150" y="5529453"/>
            <a:ext cx="4822507" cy="22278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430"/>
                </a:solidFill>
                <a:latin typeface="Arial"/>
              </a:rPr>
              <a:t>Internal support starts the pilot because its content is approved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Q2</a:t>
            </a:r>
          </a:p>
        </p:txBody>
      </p:sp>
      <p:pic>
        <p:nvPicPr>
          <p:cNvPr id="89" name="Picture 88" descr="icon002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4965954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CONFIDENTIALITY AND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Risk governs which documents enter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947005"/>
            <a:ext cx="6244113" cy="2894742"/>
          </a:xfrm>
          <a:prstGeom prst="roundRect">
            <a:avLst>
              <a:gd name="adj" fmla="val 329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880330"/>
            <a:ext cx="4381785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WHICH RISKS ARISE, AND HOW MUCH SHOULD EACH ONE WEIGH?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213705"/>
            <a:ext cx="5767863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2280380"/>
            <a:ext cx="13144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6050" y="2280380"/>
            <a:ext cx="5905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900" y="2280380"/>
            <a:ext cx="319611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WHAT IT ACTUALLY DECIDES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725" y="2461355"/>
            <a:ext cx="5767863" cy="4312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2883122"/>
            <a:ext cx="5767863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7300" y="2513742"/>
            <a:ext cx="125730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Confidentiality and reputation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6050" y="2551842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00350" y="2551842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14650" y="2551842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0900" y="2513742"/>
            <a:ext cx="3138963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Which documents may leave the building. One serious breach ends the client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725" y="2892647"/>
            <a:ext cx="5767863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725" y="3319176"/>
            <a:ext cx="5767863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7300" y="2949797"/>
            <a:ext cx="12573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Regulatory and contractual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86050" y="2987897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00350" y="2987897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14650" y="2987897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0900" y="2949797"/>
            <a:ext cx="3138963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Written client agreement before use, manual fallback on refusal, DPIA before indexing.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7725" y="3328701"/>
            <a:ext cx="5767863" cy="43605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725" y="3755231"/>
            <a:ext cx="5767863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7300" y="3385851"/>
            <a:ext cx="13144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Incorrect findings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6050" y="3423951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00350" y="3423951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14650" y="3423951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0900" y="3385851"/>
            <a:ext cx="3138963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Mandatory human approval and refusal without evidence. A citation is not a conclusion.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725" y="3764756"/>
            <a:ext cx="5767863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7725" y="4191285"/>
            <a:ext cx="5767863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7300" y="3821906"/>
            <a:ext cx="13144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Cybersecurity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86050" y="3860006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00350" y="3860006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914650" y="3860006"/>
            <a:ext cx="85725" cy="85725"/>
          </a:xfrm>
          <a:prstGeom prst="roundRect">
            <a:avLst>
              <a:gd name="adj" fmla="val 22222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0900" y="3821906"/>
            <a:ext cx="3138963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Standard controls either way. Local adds patching and insider duties rather than removing them.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725" y="4200810"/>
            <a:ext cx="5767863" cy="43605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7725" y="4627340"/>
            <a:ext cx="5767863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57300" y="4257960"/>
            <a:ext cx="13144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Vendor dependency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86050" y="4296060"/>
            <a:ext cx="85725" cy="85725"/>
          </a:xfrm>
          <a:prstGeom prst="roundRect">
            <a:avLst>
              <a:gd name="adj" fmla="val 22222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00350" y="4296060"/>
            <a:ext cx="85725" cy="85725"/>
          </a:xfrm>
          <a:prstGeom prst="roundRect">
            <a:avLst>
              <a:gd name="adj" fmla="val 22222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14650" y="4296060"/>
            <a:ext cx="85725" cy="85725"/>
          </a:xfrm>
          <a:prstGeom prst="roundRect">
            <a:avLst>
              <a:gd name="adj" fmla="val 22222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0900" y="4257960"/>
            <a:ext cx="3138963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Exportable documents and metadata, tested switching, annual contract review.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4213" y="1947005"/>
            <a:ext cx="4538186" cy="2894742"/>
          </a:xfrm>
          <a:prstGeom prst="roundRect">
            <a:avLst>
              <a:gd name="adj" fmla="val 329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44238" y="1880330"/>
            <a:ext cx="4363497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HOW MUCH SHOULD RISK WEIGH AGAINST THE VALUE AT STAKE?</a:t>
            </a:r>
          </a:p>
        </p:txBody>
      </p:sp>
      <p:pic>
        <p:nvPicPr>
          <p:cNvPr id="49" name="Picture 48" descr="icon0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338" y="2213705"/>
            <a:ext cx="209550" cy="209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596663" y="2228850"/>
            <a:ext cx="3361182" cy="198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430"/>
                </a:solidFill>
                <a:latin typeface="Arial"/>
              </a:rPr>
              <a:t>Fines are capped; accreditation loss is uncapped</a:t>
            </a:r>
          </a:p>
        </p:txBody>
      </p:sp>
      <p:pic>
        <p:nvPicPr>
          <p:cNvPr id="51" name="Picture 50" descr="icon0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38" y="2547080"/>
            <a:ext cx="209550" cy="2095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596663" y="2562225"/>
            <a:ext cx="2911983" cy="198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430"/>
                </a:solidFill>
                <a:latin typeface="Arial"/>
              </a:rPr>
              <a:t>Every excluded document costs us benefit</a:t>
            </a:r>
          </a:p>
        </p:txBody>
      </p:sp>
      <p:pic>
        <p:nvPicPr>
          <p:cNvPr id="53" name="Picture 52" descr="icon0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338" y="2880455"/>
            <a:ext cx="209550" cy="2095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596663" y="2895600"/>
            <a:ext cx="3310128" cy="198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430"/>
                </a:solidFill>
                <a:latin typeface="Arial"/>
              </a:rPr>
              <a:t>Local removes the provider, adds insider access</a:t>
            </a:r>
          </a:p>
        </p:txBody>
      </p:sp>
      <p:pic>
        <p:nvPicPr>
          <p:cNvPr id="55" name="Picture 54" descr="icon00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338" y="3213830"/>
            <a:ext cx="209550" cy="2095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596663" y="3228975"/>
            <a:ext cx="2937414" cy="198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430"/>
                </a:solidFill>
                <a:latin typeface="Arial"/>
              </a:rPr>
              <a:t>A weighted scorecard would fake precision</a:t>
            </a:r>
          </a:p>
        </p:txBody>
      </p:sp>
      <p:pic>
        <p:nvPicPr>
          <p:cNvPr id="57" name="Picture 56" descr="icon00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338" y="3547205"/>
            <a:ext cx="209550" cy="2095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96663" y="3562350"/>
            <a:ext cx="3386328" cy="198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430"/>
                </a:solidFill>
                <a:latin typeface="Arial"/>
              </a:rPr>
              <a:t>Exclude first, then compare the compliant options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9600" y="4984527"/>
            <a:ext cx="10972800" cy="4762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42875" rIns="228600" bIns="142875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FFFFF"/>
                </a:solidFill>
                <a:latin typeface="Arial"/>
              </a:rPr>
              <a:t>Not one of these five risks selects cloud over local. They select </a:t>
            </a:r>
            <a:r>
              <a:rPr sz="1275" b="1" i="0">
                <a:solidFill>
                  <a:srgbClr val="FFFFFF"/>
                </a:solidFill>
                <a:latin typeface="Arial"/>
              </a:rPr>
              <a:t>what enters the system and who signs it off.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Q3</a:t>
            </a:r>
          </a:p>
        </p:txBody>
      </p:sp>
      <p:pic>
        <p:nvPicPr>
          <p:cNvPr id="66" name="Picture 65" descr="icon00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299685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TECHNOLOGY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Cloud wins five of six criteria; on-premise wins only where nothing may leave the building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016347"/>
            <a:ext cx="10972800" cy="2745866"/>
          </a:xfrm>
          <a:prstGeom prst="roundRect">
            <a:avLst>
              <a:gd name="adj" fmla="val 3468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949672"/>
            <a:ext cx="465401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HOW DO CLOUD AND ON-PREMISE COMPARE ON THE SAME CRITERIA?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283047"/>
            <a:ext cx="10496550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349722"/>
            <a:ext cx="13144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2200" y="2349722"/>
            <a:ext cx="387791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4413" y="2349722"/>
            <a:ext cx="3837432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050" y="2349722"/>
            <a:ext cx="10096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BETTER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725" y="2530697"/>
            <a:ext cx="10496550" cy="333851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2855023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2583084"/>
            <a:ext cx="1314450" cy="22907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Speed to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2200" y="2583084"/>
            <a:ext cx="3877913" cy="22907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Pilot running in weeks on existing licences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4413" y="2583084"/>
            <a:ext cx="3837432" cy="22907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Procurement, build and tuning before first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06050" y="2583084"/>
            <a:ext cx="592931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725" y="2864453"/>
            <a:ext cx="10496550" cy="33861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725" y="3193542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450" y="2921603"/>
            <a:ext cx="1314450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200" y="2921603"/>
            <a:ext cx="3877913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Capacity bought in small increments, per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4413" y="2921603"/>
            <a:ext cx="3837432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Grows in hardware steps; one server is not high availability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6050" y="2921603"/>
            <a:ext cx="592931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3203066"/>
            <a:ext cx="10496550" cy="33861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725" y="3532155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50" y="3260216"/>
            <a:ext cx="1314450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Data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2200" y="3260216"/>
            <a:ext cx="3877913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Processing leaves the firm, bounded by contract and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4413" y="3260216"/>
            <a:ext cx="3837432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Inference and index stay on the internal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6050" y="3260216"/>
            <a:ext cx="943260" cy="224313"/>
          </a:xfrm>
          <a:prstGeom prst="roundRect">
            <a:avLst>
              <a:gd name="adj" fmla="val 50000"/>
            </a:avLst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725" y="3541680"/>
            <a:ext cx="10496550" cy="33861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7725" y="3870769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50" y="3598830"/>
            <a:ext cx="1314450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User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2200" y="3598830"/>
            <a:ext cx="3877913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Familiar interface, maintained and updated by the 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4413" y="3598830"/>
            <a:ext cx="3837432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Own portal to build, own quality and latency to tune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6050" y="3598830"/>
            <a:ext cx="592931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725" y="3880294"/>
            <a:ext cx="10496550" cy="33861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725" y="4209383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450" y="3937444"/>
            <a:ext cx="1314450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2200" y="3937444"/>
            <a:ext cx="3877913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Provider patches models and platform; we own 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4413" y="3937444"/>
            <a:ext cx="3837432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We own patching, backup, restore tests and capacity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06050" y="3937444"/>
            <a:ext cx="592931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725" y="4218813"/>
            <a:ext cx="10496550" cy="33861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725" y="4547901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450" y="4275963"/>
            <a:ext cx="1314450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Cost at our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62200" y="4275963"/>
            <a:ext cx="3877913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EUR 77,424 over three years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4413" y="4275963"/>
            <a:ext cx="3837432" cy="23383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EUR 131,000 over three years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6050" y="4275963"/>
            <a:ext cx="592931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4905089"/>
            <a:ext cx="5410200" cy="788479"/>
          </a:xfrm>
          <a:prstGeom prst="rect">
            <a:avLst/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tIns="114300" rIns="171450" bIns="114300">
            <a:no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The honest caveat: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on-premise does not remove risk, it moves it. The provider disappears, patching, insider access, backups and outages arrive. In a twenty-person firm total risk can rise.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905089"/>
            <a:ext cx="47625" cy="788479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4905089"/>
            <a:ext cx="5410200" cy="788479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tIns="114300" rIns="171450" bIns="114300">
            <a:no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Hybrid is not a compromise: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it needs both operating capabilities, adds routing errors and costs EUR 173,164. It becomes the answer only if a client contractually requires local processing.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905089"/>
            <a:ext cx="47625" cy="788479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Q4</a:t>
            </a:r>
          </a:p>
        </p:txBody>
      </p:sp>
      <p:pic>
        <p:nvPicPr>
          <p:cNvPr id="59" name="Picture 58" descr="icon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299685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TECHNOLOGY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Both paths are buildable today with named products, and only one is reversible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25884"/>
            <a:ext cx="10972800" cy="2705671"/>
          </a:xfrm>
          <a:prstGeom prst="roundRect">
            <a:avLst>
              <a:gd name="adj" fmla="val 352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059209"/>
            <a:ext cx="4588097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WHICH REAL SUPPLIERS, CONFIGURATIONS AND INDICATIVE COSTS?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392584"/>
            <a:ext cx="5162550" cy="352425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90550" tIns="85725" rIns="152400" bIns="8572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7" b="1" i="0" spc="99">
                <a:solidFill>
                  <a:srgbClr val="FFFFFF"/>
                </a:solidFill>
                <a:latin typeface="Arial"/>
              </a:rPr>
              <a:t>CLOUD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7725" y="2745009"/>
            <a:ext cx="5162550" cy="1886521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0750" y="2745009"/>
            <a:ext cx="9525" cy="1886521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7725" y="4622006"/>
            <a:ext cx="5162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725" y="2745009"/>
            <a:ext cx="9525" cy="1886521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0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850641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04925" y="2859309"/>
            <a:ext cx="3500723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Microsoft 365 Copilot Business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for approved office work</a:t>
            </a:r>
          </a:p>
        </p:txBody>
      </p:sp>
      <p:pic>
        <p:nvPicPr>
          <p:cNvPr id="15" name="Picture 14" descr="icon0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10962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04925" y="3118294"/>
            <a:ext cx="3058572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Azure OpenAI</a:t>
            </a:r>
            <a:r>
              <a:rPr sz="1050" b="0" i="0">
                <a:solidFill>
                  <a:srgbClr val="1A2430"/>
                </a:solidFill>
                <a:latin typeface="Arial"/>
              </a:rPr>
              <a:t>, GPT-4.1-mini class, EU Data Zone</a:t>
            </a:r>
          </a:p>
        </p:txBody>
      </p:sp>
      <p:pic>
        <p:nvPicPr>
          <p:cNvPr id="17" name="Picture 16" descr="icon00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368611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04925" y="3377184"/>
            <a:ext cx="3115437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PostgreSQL with pgvector</a:t>
            </a:r>
            <a:r>
              <a:rPr sz="1050" b="0" i="0">
                <a:solidFill>
                  <a:srgbClr val="1A2430"/>
                </a:solidFill>
                <a:latin typeface="Arial"/>
              </a:rPr>
              <a:t>, EU-hosted audit index</a:t>
            </a:r>
          </a:p>
        </p:txBody>
      </p:sp>
      <p:pic>
        <p:nvPicPr>
          <p:cNvPr id="19" name="Picture 18" descr="icon00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627500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04925" y="3636168"/>
            <a:ext cx="3244024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Entra ID portal</a:t>
            </a:r>
            <a:r>
              <a:rPr sz="1050" b="0" i="0">
                <a:solidFill>
                  <a:srgbClr val="1A2430"/>
                </a:solidFill>
                <a:latin typeface="Arial"/>
              </a:rPr>
              <a:t>, permissions enforced before retrieval</a:t>
            </a:r>
          </a:p>
        </p:txBody>
      </p:sp>
      <p:pic>
        <p:nvPicPr>
          <p:cNvPr id="21" name="Picture 20" descr="icon00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3886485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04925" y="3895153"/>
            <a:ext cx="3719036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Three free settings: no web search, no flex routing, EU pinned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" y="4058888"/>
            <a:ext cx="4819650" cy="467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85725" rIns="0" bIns="0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A2430"/>
                </a:solidFill>
                <a:latin typeface="Arial"/>
              </a:rPr>
              <a:t>EUR 18.20</a:t>
            </a:r>
            <a:r>
              <a:rPr sz="1012" b="0" i="0">
                <a:solidFill>
                  <a:srgbClr val="1A2430"/>
                </a:solidFill>
                <a:latin typeface="Arial"/>
              </a:rPr>
              <a:t>/user/month </a:t>
            </a:r>
            <a:r>
              <a:rPr sz="1012" b="1" i="0">
                <a:solidFill>
                  <a:srgbClr val="1A2430"/>
                </a:solidFill>
                <a:latin typeface="Arial"/>
              </a:rPr>
              <a:t>EUR 120</a:t>
            </a:r>
            <a:r>
              <a:rPr sz="1012" b="0" i="0">
                <a:solidFill>
                  <a:srgbClr val="1A2430"/>
                </a:solidFill>
                <a:latin typeface="Arial"/>
              </a:rPr>
              <a:t>/month model </a:t>
            </a:r>
            <a:r>
              <a:rPr sz="1012" b="1" i="0">
                <a:solidFill>
                  <a:srgbClr val="1A2430"/>
                </a:solidFill>
                <a:latin typeface="Arial"/>
              </a:rPr>
              <a:t>EUR 200</a:t>
            </a:r>
            <a:r>
              <a:rPr sz="1012" b="0" i="0">
                <a:solidFill>
                  <a:srgbClr val="1A2430"/>
                </a:solidFill>
                <a:latin typeface="Arial"/>
              </a:rPr>
              <a:t>/month hosting</a:t>
            </a:r>
          </a:p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5D6B79"/>
                </a:solidFill>
                <a:latin typeface="Arial"/>
              </a:rPr>
              <a:t>List prices and budget allowances, confirm before purchase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8700" y="4058888"/>
            <a:ext cx="4819650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1725" y="2392584"/>
            <a:ext cx="5162550" cy="352425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90550" tIns="85725" rIns="152400" bIns="85725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7" b="1" i="0" spc="99">
                <a:solidFill>
                  <a:srgbClr val="FFFFFF"/>
                </a:solidFill>
                <a:latin typeface="Arial"/>
              </a:rPr>
              <a:t>ON-PREMISE CONFIGURATION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725" y="2745009"/>
            <a:ext cx="5162550" cy="1886521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34750" y="2745009"/>
            <a:ext cx="9525" cy="1886521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725" y="4622006"/>
            <a:ext cx="5162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725" y="2745009"/>
            <a:ext cx="9525" cy="1886521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00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2850641"/>
            <a:ext cx="171450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38925" y="2859309"/>
            <a:ext cx="2797206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Dell Precision 7960</a:t>
            </a:r>
            <a:r>
              <a:rPr sz="1050" b="0" i="0">
                <a:solidFill>
                  <a:srgbClr val="1A2430"/>
                </a:solidFill>
                <a:latin typeface="Arial"/>
              </a:rPr>
              <a:t>, 128 GB RAM, 4 TB SSD</a:t>
            </a:r>
          </a:p>
        </p:txBody>
      </p:sp>
      <p:pic>
        <p:nvPicPr>
          <p:cNvPr id="32" name="Picture 31" descr="icon005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3109626"/>
            <a:ext cx="17145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38925" y="3118294"/>
            <a:ext cx="3276409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NVIDIA RTX PRO 6000</a:t>
            </a:r>
            <a:r>
              <a:rPr sz="1050" b="0" i="0">
                <a:solidFill>
                  <a:srgbClr val="1A2430"/>
                </a:solidFill>
                <a:latin typeface="Arial"/>
              </a:rPr>
              <a:t>, 96 GB, plus UPS and backup</a:t>
            </a:r>
          </a:p>
        </p:txBody>
      </p:sp>
      <p:pic>
        <p:nvPicPr>
          <p:cNvPr id="34" name="Picture 33" descr="icon0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3368611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38925" y="3377184"/>
            <a:ext cx="2977610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Qwen3-32B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under Apache 2.0, served with vLLM</a:t>
            </a:r>
          </a:p>
        </p:txBody>
      </p:sp>
      <p:pic>
        <p:nvPicPr>
          <p:cNvPr id="36" name="Picture 35" descr="icon00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3627500"/>
            <a:ext cx="17145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38925" y="3636168"/>
            <a:ext cx="2633472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0"/>
                </a:solidFill>
                <a:latin typeface="Arial"/>
              </a:rPr>
              <a:t>PostgreSQL with pgvector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and local OCR</a:t>
            </a:r>
          </a:p>
        </p:txBody>
      </p:sp>
      <p:pic>
        <p:nvPicPr>
          <p:cNvPr id="38" name="Picture 37" descr="icon00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886485"/>
            <a:ext cx="171450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38925" y="3895153"/>
            <a:ext cx="2500788" cy="17325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VPN access and a contracted IT operator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62700" y="4058888"/>
            <a:ext cx="4819650" cy="4679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85725" rIns="0" bIns="0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A2430"/>
                </a:solidFill>
                <a:latin typeface="Arial"/>
              </a:rPr>
              <a:t>EUR 25,000</a:t>
            </a:r>
            <a:r>
              <a:rPr sz="1012" b="0" i="0">
                <a:solidFill>
                  <a:srgbClr val="1A2430"/>
                </a:solidFill>
                <a:latin typeface="Arial"/>
              </a:rPr>
              <a:t> hardware package </a:t>
            </a:r>
            <a:r>
              <a:rPr sz="1012" b="1" i="0">
                <a:solidFill>
                  <a:srgbClr val="1A2430"/>
                </a:solidFill>
                <a:latin typeface="Arial"/>
              </a:rPr>
              <a:t>EUR 0</a:t>
            </a:r>
            <a:r>
              <a:rPr sz="1012" b="0" i="0">
                <a:solidFill>
                  <a:srgbClr val="1A2430"/>
                </a:solidFill>
                <a:latin typeface="Arial"/>
              </a:rPr>
              <a:t> model licence, Apache 2.0</a:t>
            </a:r>
          </a:p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5D6B79"/>
                </a:solidFill>
                <a:latin typeface="Arial"/>
              </a:rPr>
              <a:t>Hardware subject to quotation, no list price available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62700" y="4058888"/>
            <a:ext cx="4819650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9600" y="4974431"/>
            <a:ext cx="10972800" cy="6096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33350" rIns="228600" bIns="13335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The cloud configuration can be switched off; the hardware cannot be unbought. We keep a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current quote on file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so the on-premise path stays selectable at month twelve.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What these components add up to is the next slide.</a:t>
            </a:r>
          </a:p>
        </p:txBody>
      </p:sp>
      <p:sp>
        <p:nvSpPr>
          <p:cNvPr id="43" name="Oval 42"/>
          <p:cNvSpPr/>
          <p:nvPr/>
        </p:nvSpPr>
        <p:spPr>
          <a:xfrm>
            <a:off x="771525" y="2297334"/>
            <a:ext cx="552450" cy="55245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00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2430684"/>
            <a:ext cx="285750" cy="285750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6105525" y="2297334"/>
            <a:ext cx="552450" cy="55245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con00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875" y="2430684"/>
            <a:ext cx="285750" cy="28575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Q4</a:t>
            </a:r>
          </a:p>
        </p:txBody>
      </p:sp>
      <p:pic>
        <p:nvPicPr>
          <p:cNvPr id="53" name="Picture 52" descr="icon002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2748534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FINANCIAL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Only the cloud route stays below the value it is meant to 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449990"/>
            <a:ext cx="10972800" cy="1790700"/>
          </a:xfrm>
          <a:prstGeom prst="roundRect">
            <a:avLst>
              <a:gd name="adj" fmla="val 5319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383315"/>
            <a:ext cx="365579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DOES EACH OPTION COST OVER THREE YEARS?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764315"/>
            <a:ext cx="118110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688115"/>
            <a:ext cx="8324850" cy="304800"/>
          </a:xfrm>
          <a:prstGeom prst="roundRect">
            <a:avLst>
              <a:gd name="adj" fmla="val 15625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1688115"/>
            <a:ext cx="1057084" cy="304800"/>
          </a:xfrm>
          <a:prstGeom prst="roundRect">
            <a:avLst>
              <a:gd name="adj" fmla="val 15625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22.0k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4484" y="1688115"/>
            <a:ext cx="2568225" cy="3048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53.4k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2710" y="1688115"/>
            <a:ext cx="96488" cy="304800"/>
          </a:xfrm>
          <a:prstGeom prst="rect">
            <a:avLst/>
          </a:prstGeom>
          <a:solidFill>
            <a:srgbClr val="A9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500" y="1754790"/>
            <a:ext cx="93345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F1937"/>
                </a:solidFill>
                <a:latin typeface="Arial"/>
              </a:rPr>
              <a:t>77,424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183415"/>
            <a:ext cx="118110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On-premise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107215"/>
            <a:ext cx="8324850" cy="304800"/>
          </a:xfrm>
          <a:prstGeom prst="roundRect">
            <a:avLst>
              <a:gd name="adj" fmla="val 15625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57400" y="2107215"/>
            <a:ext cx="2692146" cy="304800"/>
          </a:xfrm>
          <a:prstGeom prst="roundRect">
            <a:avLst>
              <a:gd name="adj" fmla="val 15625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56.0k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9546" y="2107215"/>
            <a:ext cx="3317366" cy="3048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69.0k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6913" y="2107215"/>
            <a:ext cx="288702" cy="304800"/>
          </a:xfrm>
          <a:prstGeom prst="rect">
            <a:avLst/>
          </a:prstGeom>
          <a:solidFill>
            <a:srgbClr val="A9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0" y="2173890"/>
            <a:ext cx="93345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1127"/>
                </a:solidFill>
                <a:latin typeface="Arial"/>
              </a:rPr>
              <a:t>131,000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602515"/>
            <a:ext cx="1181100" cy="152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Hybrid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2526315"/>
            <a:ext cx="8324850" cy="304800"/>
          </a:xfrm>
          <a:prstGeom prst="roundRect">
            <a:avLst>
              <a:gd name="adj" fmla="val 15625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57400" y="2526315"/>
            <a:ext cx="3076575" cy="304800"/>
          </a:xfrm>
          <a:prstGeom prst="roundRect">
            <a:avLst>
              <a:gd name="adj" fmla="val 15625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64.0k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3975" y="2526315"/>
            <a:ext cx="4959572" cy="304800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FFFFF"/>
                </a:solidFill>
                <a:latin typeface="Arial"/>
              </a:rPr>
              <a:t>103.2k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93547" y="2526315"/>
            <a:ext cx="288702" cy="304800"/>
          </a:xfrm>
          <a:prstGeom prst="rect">
            <a:avLst/>
          </a:prstGeom>
          <a:solidFill>
            <a:srgbClr val="A9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7500" y="2592990"/>
            <a:ext cx="933450" cy="171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1127"/>
                </a:solidFill>
                <a:latin typeface="Arial"/>
              </a:rPr>
              <a:t>173,164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945415"/>
            <a:ext cx="556926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1925" indent="0"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D6B79"/>
                </a:solidFill>
                <a:latin typeface="Arial"/>
              </a:rPr>
              <a:t> One-off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625" y="2959703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8001" y="2945415"/>
            <a:ext cx="168402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1925" indent="0"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D6B79"/>
                </a:solidFill>
                <a:latin typeface="Arial"/>
              </a:rPr>
              <a:t> Three years of recurring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38001" y="2959703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3471" y="2945415"/>
            <a:ext cx="1313592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1925" indent="0"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D6B79"/>
                </a:solidFill>
                <a:latin typeface="Arial"/>
              </a:rPr>
              <a:t> Upgrade in year three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3471" y="2959703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A9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8419" y="2945415"/>
            <a:ext cx="1858613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76200" indent="0"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D6B79"/>
                </a:solidFill>
                <a:latin typeface="Arial"/>
              </a:rPr>
              <a:t> Capacity released, EUR 119,232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8419" y="2945415"/>
            <a:ext cx="19050" cy="13335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9600" y="3393090"/>
            <a:ext cx="10972800" cy="2564415"/>
          </a:xfrm>
          <a:prstGeom prst="roundRect">
            <a:avLst>
              <a:gd name="adj" fmla="val 3714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625" y="3326415"/>
            <a:ext cx="2130361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WHERE DOES THE MONEY GO?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25" y="3631215"/>
            <a:ext cx="5191125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350" y="3697890"/>
            <a:ext cx="2293334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ONE-OFF INVESTMENT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4409" y="3697890"/>
            <a:ext cx="652272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0981" y="3697890"/>
            <a:ext cx="108775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3036" y="3697890"/>
            <a:ext cx="70056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HYBRID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625" y="3878865"/>
            <a:ext cx="5191125" cy="27041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625" y="4139755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350" y="3931253"/>
            <a:ext cx="2293334" cy="16563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Hardware and infrastructure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2984" y="3931253"/>
            <a:ext cx="595122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556" y="3931253"/>
            <a:ext cx="1030605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1611" y="3931253"/>
            <a:ext cx="643413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25,000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625" y="4149375"/>
            <a:ext cx="5191125" cy="2751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625" y="4415028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5350" y="4206525"/>
            <a:ext cx="2293334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Integration and RAG build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02984" y="4206525"/>
            <a:ext cx="59512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12,000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556" y="4206525"/>
            <a:ext cx="1030605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18,000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1611" y="4206525"/>
            <a:ext cx="643413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24,000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625" y="4424553"/>
            <a:ext cx="5191125" cy="27517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9625" y="4690205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5350" y="4481703"/>
            <a:ext cx="2293334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Data, security and contracts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2984" y="4481703"/>
            <a:ext cx="59512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6,000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556" y="4481703"/>
            <a:ext cx="1030605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8,000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71611" y="4481703"/>
            <a:ext cx="643413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9,000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625" y="4699730"/>
            <a:ext cx="5191125" cy="2751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9625" y="4965382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" y="4756880"/>
            <a:ext cx="2293334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Training and staff learning time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2984" y="4756880"/>
            <a:ext cx="59512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4,000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9556" y="4756880"/>
            <a:ext cx="1030605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5,000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1611" y="4756880"/>
            <a:ext cx="643413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6,000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625" y="4974907"/>
            <a:ext cx="5191125" cy="275177"/>
          </a:xfrm>
          <a:prstGeom prst="rect">
            <a:avLst/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9625" y="5240559"/>
            <a:ext cx="5191125" cy="9525"/>
          </a:xfrm>
          <a:prstGeom prst="rect">
            <a:avLst/>
          </a:prstGeom>
          <a:solidFill>
            <a:srgbClr val="C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5350" y="5032057"/>
            <a:ext cx="2293334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Total before go-live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02984" y="5032057"/>
            <a:ext cx="59512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22,000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69556" y="5032057"/>
            <a:ext cx="1030605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56,000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71611" y="5032057"/>
            <a:ext cx="643413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64,000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91250" y="3631215"/>
            <a:ext cx="5191125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76975" y="3697890"/>
            <a:ext cx="2437923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EVERY YEAR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00623" y="3697890"/>
            <a:ext cx="612552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27571" y="3697890"/>
            <a:ext cx="1025271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67142" y="3697890"/>
            <a:ext cx="658082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HYBRID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1250" y="3878865"/>
            <a:ext cx="5191125" cy="27041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91250" y="4139755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76975" y="3931253"/>
            <a:ext cx="2437923" cy="16563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Licence subscriptions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29198" y="3931253"/>
            <a:ext cx="555402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4,368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56146" y="3931253"/>
            <a:ext cx="968121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5717" y="3931253"/>
            <a:ext cx="600932" cy="165639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4,368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91250" y="4149375"/>
            <a:ext cx="5191125" cy="2751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91250" y="4415028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76975" y="4206525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Model usage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29198" y="4206525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1,440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6146" y="4206525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95717" y="4206525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720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91250" y="4424553"/>
            <a:ext cx="5191125" cy="27517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91250" y="4690205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76975" y="4481703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Hosting, power and backup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29198" y="4481703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2,400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56146" y="4481703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1,800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95717" y="4481703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2,400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1250" y="4699730"/>
            <a:ext cx="5191125" cy="2751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91250" y="4965382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76975" y="4756880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External maintenance and support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29198" y="4756880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3,600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6146" y="4756880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7,200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5717" y="4756880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8,400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1250" y="4974907"/>
            <a:ext cx="5191125" cy="27517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91250" y="5240559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76975" y="5032057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Internal ownership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29198" y="5032057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4,000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6146" y="5032057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12,000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95717" y="5032057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16,000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91250" y="5250084"/>
            <a:ext cx="5191125" cy="2751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91250" y="5515737"/>
            <a:ext cx="519112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76975" y="5307234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Governance and quality assurance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29198" y="5307234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56146" y="5307234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2,000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95717" y="5307234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2,500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91250" y="5525262"/>
            <a:ext cx="5191125" cy="275177"/>
          </a:xfrm>
          <a:prstGeom prst="rect">
            <a:avLst/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91250" y="5790914"/>
            <a:ext cx="5191125" cy="9525"/>
          </a:xfrm>
          <a:prstGeom prst="rect">
            <a:avLst/>
          </a:prstGeom>
          <a:solidFill>
            <a:srgbClr val="C6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276975" y="5582412"/>
            <a:ext cx="2437923" cy="1704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Total per year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29198" y="5582412"/>
            <a:ext cx="55540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17,808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56146" y="5582412"/>
            <a:ext cx="968121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23,000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95717" y="5582412"/>
            <a:ext cx="600932" cy="170402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31127"/>
                </a:solidFill>
                <a:latin typeface="Arial"/>
              </a:rPr>
              <a:t>34,388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88878" y="1621440"/>
            <a:ext cx="190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788878" y="1621440"/>
            <a:ext cx="19050" cy="438150"/>
          </a:xfrm>
          <a:prstGeom prst="line">
            <a:avLst/>
          </a:prstGeom>
          <a:ln w="19050">
            <a:solidFill>
              <a:srgbClr val="C0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788878" y="2040540"/>
            <a:ext cx="190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7788878" y="2040540"/>
            <a:ext cx="19050" cy="438150"/>
          </a:xfrm>
          <a:prstGeom prst="line">
            <a:avLst/>
          </a:prstGeom>
          <a:ln w="19050">
            <a:solidFill>
              <a:srgbClr val="C0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7788878" y="2459640"/>
            <a:ext cx="1905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7788878" y="2459640"/>
            <a:ext cx="19050" cy="438150"/>
          </a:xfrm>
          <a:prstGeom prst="line">
            <a:avLst/>
          </a:prstGeom>
          <a:ln w="19050">
            <a:solidFill>
              <a:srgbClr val="C0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Q5</a:t>
            </a:r>
          </a:p>
        </p:txBody>
      </p:sp>
      <p:pic>
        <p:nvPicPr>
          <p:cNvPr id="130" name="Picture 129" descr="icon0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384067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ORGANIZATIONAL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Twenty people can own a managed platform; nobody here can run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09915"/>
            <a:ext cx="10972800" cy="2816256"/>
          </a:xfrm>
          <a:prstGeom prst="roundRect">
            <a:avLst>
              <a:gd name="adj" fmla="val 3382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543240"/>
            <a:ext cx="5246655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WHICH CAPABILITIES DOES EACH OPTION NEED, AND WHO WOULD OWN THEM?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1876615"/>
            <a:ext cx="10496550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1943290"/>
            <a:ext cx="14859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1943290"/>
            <a:ext cx="8001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050" y="1943290"/>
            <a:ext cx="3211449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NEEDED FOR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799" y="1943290"/>
            <a:ext cx="32846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NEEDED FOR ON-PREMISE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2700" y="1943290"/>
            <a:ext cx="11430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725" y="2124265"/>
            <a:ext cx="10496550" cy="4312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725" y="2546032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176653"/>
            <a:ext cx="142875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Audit domain 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3650" y="2176653"/>
            <a:ext cx="650367" cy="224313"/>
          </a:xfrm>
          <a:prstGeom prst="roundRect">
            <a:avLst>
              <a:gd name="adj" fmla="val 5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FFFFFF"/>
                </a:solidFill>
                <a:latin typeface="Arial"/>
              </a:rPr>
              <a:t>Have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50" y="2176653"/>
            <a:ext cx="3211449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Unchanged. The scarce asset stays internal.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799" y="2176653"/>
            <a:ext cx="328460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Unchanged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2700" y="2176653"/>
            <a:ext cx="108585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Audit and quality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7725" y="2555557"/>
            <a:ext cx="10496550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2982087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" y="2612707"/>
            <a:ext cx="142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Sources, tests and approval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33650" y="2612707"/>
            <a:ext cx="586073" cy="224313"/>
          </a:xfrm>
          <a:prstGeom prst="roundRect">
            <a:avLst>
              <a:gd name="adj" fmla="val 50000"/>
            </a:avLst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431127"/>
                </a:solidFill>
                <a:latin typeface="Arial"/>
              </a:rPr>
              <a:t>Partly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8050" y="2612707"/>
            <a:ext cx="3211449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0.05 FTE, about two hours per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3799" y="2612707"/>
            <a:ext cx="32846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0.15 FTE, plus content duties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2700" y="2612707"/>
            <a:ext cx="10858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Internal product owner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725" y="2991612"/>
            <a:ext cx="10496550" cy="35766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725" y="3339750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450" y="3048762"/>
            <a:ext cx="1485900" cy="252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Platform operation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33650" y="3048762"/>
            <a:ext cx="569118" cy="243363"/>
          </a:xfrm>
          <a:prstGeom prst="roundRect">
            <a:avLst>
              <a:gd name="adj" fmla="val 50000"/>
            </a:avLst>
          </a:prstGeom>
          <a:solidFill>
            <a:srgbClr val="F7F3F5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5D6B79"/>
                </a:solidFill>
                <a:latin typeface="Arial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8050" y="3048762"/>
            <a:ext cx="3211449" cy="252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Bought from the provider and an IT partner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3799" y="3048762"/>
            <a:ext cx="3284600" cy="252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Own patching, backup, restore tests,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2700" y="3048762"/>
            <a:ext cx="1143000" cy="252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External IT partner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725" y="3349275"/>
            <a:ext cx="10496550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7725" y="3775805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3450" y="3406425"/>
            <a:ext cx="142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Privacy and accreditation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33650" y="3406425"/>
            <a:ext cx="586073" cy="224313"/>
          </a:xfrm>
          <a:prstGeom prst="roundRect">
            <a:avLst>
              <a:gd name="adj" fmla="val 50000"/>
            </a:avLst>
          </a:prstGeom>
          <a:solidFill>
            <a:srgbClr val="EE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431127"/>
                </a:solidFill>
                <a:latin typeface="Arial"/>
              </a:rPr>
              <a:t>Partly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8050" y="3406425"/>
            <a:ext cx="3211449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DPIA, processor terms, client ICT annex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3799" y="3406425"/>
            <a:ext cx="32846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The same, plus insider-access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2700" y="3406425"/>
            <a:ext cx="11430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Privacy function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7725" y="3785330"/>
            <a:ext cx="10496550" cy="43605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7725" y="4211859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3450" y="3842480"/>
            <a:ext cx="14859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Availability and cover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33650" y="3842480"/>
            <a:ext cx="569118" cy="243363"/>
          </a:xfrm>
          <a:prstGeom prst="roundRect">
            <a:avLst>
              <a:gd name="adj" fmla="val 50000"/>
            </a:avLst>
          </a:prstGeom>
          <a:solidFill>
            <a:srgbClr val="F7F3F5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4300" tIns="28575" rIns="114300" bIns="28575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5D6B79"/>
                </a:solidFill>
                <a:latin typeface="Arial"/>
              </a:rPr>
              <a:t>None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8050" y="3842480"/>
            <a:ext cx="3211449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Provider service levels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3799" y="3842480"/>
            <a:ext cx="32846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One server is not high availability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2700" y="3842480"/>
            <a:ext cx="10858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Not achievable in-house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600" y="4569047"/>
            <a:ext cx="5400675" cy="1228725"/>
          </a:xfrm>
          <a:prstGeom prst="roundRect">
            <a:avLst>
              <a:gd name="adj" fmla="val 7751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625" y="4502372"/>
            <a:ext cx="3066192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ARE THE PROCESSES READY TO ABSORB AI?</a:t>
            </a:r>
          </a:p>
        </p:txBody>
      </p:sp>
      <p:pic>
        <p:nvPicPr>
          <p:cNvPr id="51" name="Picture 50" descr="icon0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807172"/>
            <a:ext cx="209550" cy="2095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23950" y="4825460"/>
            <a:ext cx="3537013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Internal support and preparation can start as they are</a:t>
            </a:r>
          </a:p>
        </p:txBody>
      </p:sp>
      <p:pic>
        <p:nvPicPr>
          <p:cNvPr id="53" name="Picture 52" descr="icon0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5121497"/>
            <a:ext cx="209550" cy="2095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3950" y="5139785"/>
            <a:ext cx="3364420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Document review and reporting need redesign first</a:t>
            </a:r>
          </a:p>
        </p:txBody>
      </p:sp>
      <p:pic>
        <p:nvPicPr>
          <p:cNvPr id="55" name="Picture 54" descr="icon00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435822"/>
            <a:ext cx="209550" cy="2095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23950" y="5454110"/>
            <a:ext cx="3545109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The knowledge base must be curated before retrieval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1725" y="4569047"/>
            <a:ext cx="5400675" cy="1228725"/>
          </a:xfrm>
          <a:prstGeom prst="roundRect">
            <a:avLst>
              <a:gd name="adj" fmla="val 7751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81750" y="4502372"/>
            <a:ext cx="4254436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RESISTANCE SHOULD WE EXPECT, AND WHAT DO WE DO?</a:t>
            </a:r>
          </a:p>
        </p:txBody>
      </p:sp>
      <p:pic>
        <p:nvPicPr>
          <p:cNvPr id="59" name="Picture 58" descr="icon0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807172"/>
            <a:ext cx="209550" cy="20955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96075" y="4825460"/>
            <a:ext cx="3626834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Two practitioners co-design the test set from week one</a:t>
            </a:r>
          </a:p>
        </p:txBody>
      </p:sp>
      <p:pic>
        <p:nvPicPr>
          <p:cNvPr id="61" name="Picture 60" descr="icon00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5121497"/>
            <a:ext cx="209550" cy="20955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96075" y="5139785"/>
            <a:ext cx="3586162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Released time goes to quality before it goes to targets</a:t>
            </a:r>
          </a:p>
        </p:txBody>
      </p:sp>
      <p:pic>
        <p:nvPicPr>
          <p:cNvPr id="63" name="Picture 62" descr="icon00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5435822"/>
            <a:ext cx="209550" cy="20955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96075" y="5454110"/>
            <a:ext cx="3470719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Excess access rights are corrected before switch-on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Q6</a:t>
            </a:r>
          </a:p>
        </p:txBody>
      </p:sp>
      <p:pic>
        <p:nvPicPr>
          <p:cNvPr id="71" name="Picture 70" descr="icon00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2822352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FUTURE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The recommendation survives growth; the audit workflow does not survive it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16645"/>
            <a:ext cx="10972800" cy="2847975"/>
          </a:xfrm>
          <a:prstGeom prst="roundRect">
            <a:avLst>
              <a:gd name="adj" fmla="val 3344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049970"/>
            <a:ext cx="6147911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WOULD THE SOLUTION STILL WORK AT TRIPLE VOLUME, DOUBLE HEADCOUNT AND ABROAD?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383345"/>
            <a:ext cx="2524125" cy="238125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2392870"/>
            <a:ext cx="2505075" cy="390525"/>
          </a:xfrm>
          <a:prstGeom prst="rect">
            <a:avLst/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0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488120"/>
            <a:ext cx="2000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825" y="2507170"/>
            <a:ext cx="1915001" cy="161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Three times the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" y="278339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50" y="278339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75" y="287864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303104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Incremental indexing, duplicate detection and version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3440620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250" y="3440620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075" y="3535870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ORGANISATION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688270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Source ownership assigned per standard and per client.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250" y="409784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250" y="409784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075" y="419309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434549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Retention and deletion rules become mandatory.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5200" y="2383345"/>
            <a:ext cx="2524125" cy="238125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4725" y="2392870"/>
            <a:ext cx="2505075" cy="390525"/>
          </a:xfrm>
          <a:prstGeom prst="rect">
            <a:avLst/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0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488120"/>
            <a:ext cx="200025" cy="2000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24300" y="2507170"/>
            <a:ext cx="1459706" cy="161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Twice the headcount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4725" y="278339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14725" y="278339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8550" y="287864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303104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Forty licences and a load test at ten concurrent requests.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4725" y="3440620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14725" y="3440620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8550" y="3535870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ORGANISATION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8550" y="3688270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Approval rights spread across teams instead of one owner.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4725" y="409784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14725" y="409784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8550" y="419309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8550" y="434549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Onboarding carries AI training as a standard module.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2675" y="2383345"/>
            <a:ext cx="2524125" cy="238125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2392870"/>
            <a:ext cx="2505075" cy="390525"/>
          </a:xfrm>
          <a:prstGeom prst="rect">
            <a:avLst/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00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488120"/>
            <a:ext cx="200025" cy="2000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81775" y="2507170"/>
            <a:ext cx="1660969" cy="161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International expansion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78339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278339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6025" y="287864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6025" y="303104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Country, language and standard metadata, tested per language.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440620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3440620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6025" y="3535870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ORGANISATION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6025" y="3688270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Local reviewers and local accreditation relationships.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09784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72200" y="409784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6025" y="419309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5F1937"/>
                </a:solidFill>
                <a:latin typeface="Arial"/>
              </a:rPr>
              <a:t>PROCESS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6025" y="434549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Client agreements renegotiated under each jurisdiction.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20150" y="2383345"/>
            <a:ext cx="2524125" cy="238125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29675" y="2392870"/>
            <a:ext cx="2505075" cy="390525"/>
          </a:xfrm>
          <a:prstGeom prst="rect">
            <a:avLst/>
          </a:prstGeom>
          <a:solidFill>
            <a:srgbClr val="8C5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con00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0" y="2488120"/>
            <a:ext cx="200025" cy="2000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239250" y="2507170"/>
            <a:ext cx="1597056" cy="16192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Arial"/>
              </a:rPr>
              <a:t>The binding constraint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29675" y="278339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29675" y="278339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53500" y="287864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8C5F1B"/>
                </a:solidFill>
                <a:latin typeface="Arial"/>
              </a:rPr>
              <a:t>SOLUTION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53500" y="3031045"/>
            <a:ext cx="231457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Technology scales in small increments.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29675" y="3440620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29675" y="3440620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53500" y="3535870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8C5F1B"/>
                </a:solidFill>
                <a:latin typeface="Arial"/>
              </a:rPr>
              <a:t>ORGANISATION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53500" y="3688270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Expert review capacity must grow with throughput.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29675" y="4097845"/>
            <a:ext cx="2505075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29675" y="4097845"/>
            <a:ext cx="2505075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53500" y="4193095"/>
            <a:ext cx="2314575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8C5F1B"/>
                </a:solidFill>
                <a:latin typeface="Arial"/>
              </a:rPr>
              <a:t>PROCESS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53500" y="4345495"/>
            <a:ext cx="2257425" cy="3333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06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1A2430"/>
                </a:solidFill>
                <a:latin typeface="Arial"/>
              </a:rPr>
              <a:t>Faster research without more reviewers only moves the queue.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" y="5117020"/>
            <a:ext cx="10972800" cy="4762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F0B1B"/>
              </a:gs>
              <a:gs pos="100000">
                <a:srgbClr val="5F1937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42875" rIns="228600" bIns="142875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FFFFF"/>
                </a:solidFill>
                <a:latin typeface="Arial"/>
              </a:rPr>
              <a:t>At forty people and thirty thousand documents, cloud remains the right direction. The annual run rate rises to roughly </a:t>
            </a:r>
            <a:r>
              <a:rPr sz="1275" b="1" i="0">
                <a:solidFill>
                  <a:srgbClr val="FFFFFF"/>
                </a:solidFill>
                <a:latin typeface="Arial"/>
              </a:rPr>
              <a:t>EUR 35,816</a:t>
            </a:r>
            <a:r>
              <a:rPr sz="1275" b="0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Q7</a:t>
            </a:r>
          </a:p>
        </p:txBody>
      </p:sp>
      <p:pic>
        <p:nvPicPr>
          <p:cNvPr id="79" name="Picture 78" descr="icon00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3693604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IMPLEMENTATION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34500" cy="60426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A twelve-week pilot on approved content buys the evidence for every later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365152"/>
            <a:ext cx="10972800" cy="2379440"/>
          </a:xfrm>
          <a:prstGeom prst="roundRect">
            <a:avLst>
              <a:gd name="adj" fmla="val 4003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2298477"/>
            <a:ext cx="5329047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WHICH LOW-RISK PILOT, AND WHAT HAPPENS SHORT, MEDIUM AND LONG TERM?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25" y="2612802"/>
            <a:ext cx="1824894" cy="1960340"/>
          </a:xfrm>
          <a:prstGeom prst="roundRect">
            <a:avLst>
              <a:gd name="adj" fmla="val 5219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2975" y="2727102"/>
            <a:ext cx="1558194" cy="190500"/>
          </a:xfrm>
          <a:prstGeom prst="roundRect">
            <a:avLst>
              <a:gd name="adj" fmla="val 2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WEEKS 1 TO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012852"/>
            <a:ext cx="1558194" cy="82229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Baseline times measured, data classes sized in hours, ICT annex drafted and the accreditation body informed.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2975" y="3911346"/>
            <a:ext cx="1558194" cy="5379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76200" r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1937"/>
                </a:solidFill>
                <a:latin typeface="Arial"/>
              </a:rPr>
              <a:t>Gate</a:t>
            </a:r>
            <a:r>
              <a:rPr sz="900" b="0" i="0">
                <a:solidFill>
                  <a:srgbClr val="431127"/>
                </a:solidFill>
                <a:latin typeface="Arial"/>
              </a:rPr>
              <a:t> Scope, named owners and a documented eligibility estimate agreed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975" y="3911346"/>
            <a:ext cx="1558194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0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769" y="3488245"/>
            <a:ext cx="171450" cy="2095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996469" y="2612802"/>
            <a:ext cx="1825085" cy="1960340"/>
          </a:xfrm>
          <a:prstGeom prst="roundRect">
            <a:avLst>
              <a:gd name="adj" fmla="val 5218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29819" y="2727102"/>
            <a:ext cx="1558385" cy="190500"/>
          </a:xfrm>
          <a:prstGeom prst="roundRect">
            <a:avLst>
              <a:gd name="adj" fmla="val 2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WEEKS 3 TO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9819" y="3012852"/>
            <a:ext cx="1558385" cy="82229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A2430"/>
                </a:solidFill>
                <a:latin typeface="Arial"/>
              </a:rPr>
              <a:t>The pilot use case: internal procedures and synthetic cases.</a:t>
            </a:r>
            <a:r>
              <a:rPr sz="960" b="0" i="0">
                <a:solidFill>
                  <a:srgbClr val="1A2430"/>
                </a:solidFill>
                <a:latin typeface="Arial"/>
              </a:rPr>
              <a:t> Five users and no real client 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9819" y="3911346"/>
            <a:ext cx="1558385" cy="5379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76200" r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1937"/>
                </a:solidFill>
                <a:latin typeface="Arial"/>
              </a:rPr>
              <a:t>Gate</a:t>
            </a:r>
            <a:r>
              <a:rPr sz="900" b="0" i="0">
                <a:solidFill>
                  <a:srgbClr val="431127"/>
                </a:solidFill>
                <a:latin typeface="Arial"/>
              </a:rPr>
              <a:t> Fifty validated questions, ten unanswerable, access tests passed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29819" y="3911346"/>
            <a:ext cx="1558386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con00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805" y="3488245"/>
            <a:ext cx="171450" cy="2095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183505" y="2612802"/>
            <a:ext cx="1824894" cy="1960340"/>
          </a:xfrm>
          <a:prstGeom prst="roundRect">
            <a:avLst>
              <a:gd name="adj" fmla="val 5219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6855" y="2727102"/>
            <a:ext cx="1558194" cy="190500"/>
          </a:xfrm>
          <a:prstGeom prst="roundRect">
            <a:avLst>
              <a:gd name="adj" fmla="val 20000"/>
            </a:avLst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WEEKS 7 TO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6855" y="3012852"/>
            <a:ext cx="1558194" cy="82229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After written client agreement, twenty representative document packages assessed by two auditors.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6855" y="3911346"/>
            <a:ext cx="1558194" cy="5379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76200" r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1937"/>
                </a:solidFill>
                <a:latin typeface="Arial"/>
              </a:rPr>
              <a:t>Gate</a:t>
            </a:r>
            <a:r>
              <a:rPr sz="900" b="0" i="0">
                <a:solidFill>
                  <a:srgbClr val="431127"/>
                </a:solidFill>
                <a:latin typeface="Arial"/>
              </a:rPr>
              <a:t> At least 2.5 net hours per week, quality and cost confirmed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16855" y="3911346"/>
            <a:ext cx="1558194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con00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745" y="3488245"/>
            <a:ext cx="171450" cy="20955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370445" y="2612802"/>
            <a:ext cx="1825085" cy="1960340"/>
          </a:xfrm>
          <a:prstGeom prst="roundRect">
            <a:avLst>
              <a:gd name="adj" fmla="val 5218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03795" y="2727102"/>
            <a:ext cx="1558385" cy="190500"/>
          </a:xfrm>
          <a:prstGeom prst="roundRect">
            <a:avLst>
              <a:gd name="adj" fmla="val 20000"/>
            </a:avLst>
          </a:prstGeom>
          <a:solidFill>
            <a:srgbClr val="5D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MONTHS 4 TO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3795" y="3012852"/>
            <a:ext cx="1558385" cy="82229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Up to twenty users. The authorised audit RAG and the reporting templates go live, partner takes over support.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03795" y="3911346"/>
            <a:ext cx="1558385" cy="5379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76200" r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1937"/>
                </a:solidFill>
                <a:latin typeface="Arial"/>
              </a:rPr>
              <a:t>Gate</a:t>
            </a:r>
            <a:r>
              <a:rPr sz="900" b="0" i="0">
                <a:solidFill>
                  <a:srgbClr val="431127"/>
                </a:solidFill>
                <a:latin typeface="Arial"/>
              </a:rPr>
              <a:t> Independent approval and monthly benefit tracking in place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03795" y="3911346"/>
            <a:ext cx="1558385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icon00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780" y="3488245"/>
            <a:ext cx="171450" cy="20955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557480" y="2612802"/>
            <a:ext cx="1824894" cy="1960340"/>
          </a:xfrm>
          <a:prstGeom prst="roundRect">
            <a:avLst>
              <a:gd name="adj" fmla="val 5219"/>
            </a:avLst>
          </a:prstGeom>
          <a:solidFill>
            <a:srgbClr val="F3F6F9"/>
          </a:solidFill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0830" y="2727102"/>
            <a:ext cx="1558194" cy="190500"/>
          </a:xfrm>
          <a:prstGeom prst="roundRect">
            <a:avLst>
              <a:gd name="adj" fmla="val 20000"/>
            </a:avLst>
          </a:prstGeom>
          <a:solidFill>
            <a:srgbClr val="5D6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38100" rIns="76200" bIns="381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78">
                <a:solidFill>
                  <a:srgbClr val="FFFFFF"/>
                </a:solidFill>
                <a:latin typeface="Arial"/>
              </a:rPr>
              <a:t>MONTHS 7 TO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0830" y="3012852"/>
            <a:ext cx="1558194" cy="82229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A2430"/>
                </a:solidFill>
                <a:latin typeface="Arial"/>
              </a:rPr>
              <a:t>Model change and data export tested, contracts reviewed and growth loads simulated for forty users.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0830" y="3911346"/>
            <a:ext cx="1558194" cy="5379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76200" r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1937"/>
                </a:solidFill>
                <a:latin typeface="Arial"/>
              </a:rPr>
              <a:t>Gate</a:t>
            </a:r>
            <a:r>
              <a:rPr sz="900" b="0" i="0">
                <a:solidFill>
                  <a:srgbClr val="431127"/>
                </a:solidFill>
                <a:latin typeface="Arial"/>
              </a:rPr>
              <a:t> Month twelve: cloud re-decided against on-premise on measured eligibility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0830" y="3911346"/>
            <a:ext cx="1558195" cy="9525"/>
          </a:xfrm>
          <a:prstGeom prst="line">
            <a:avLst/>
          </a:prstGeom>
          <a:ln w="9525">
            <a:solidFill>
              <a:srgbClr val="D9E0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09600" y="4897088"/>
            <a:ext cx="10972800" cy="447675"/>
          </a:xfrm>
          <a:prstGeom prst="roundRect">
            <a:avLst>
              <a:gd name="adj" fmla="val 21276"/>
            </a:avLst>
          </a:prstGeom>
          <a:gradFill rotWithShape="1">
            <a:gsLst>
              <a:gs pos="0">
                <a:srgbClr val="8C5F1B"/>
              </a:gs>
              <a:gs pos="100000">
                <a:srgbClr val="9D6D21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3350" rIns="228600" bIns="13335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7" b="0" i="0">
                <a:solidFill>
                  <a:srgbClr val="FFFFFF"/>
                </a:solidFill>
                <a:latin typeface="Arial"/>
              </a:rPr>
              <a:t>If a gate fails, the manual workflow stays and the rollout stops. </a:t>
            </a:r>
            <a:r>
              <a:rPr sz="1237" b="1" i="0">
                <a:solidFill>
                  <a:srgbClr val="FFFFFF"/>
                </a:solidFill>
                <a:latin typeface="Arial"/>
              </a:rPr>
              <a:t>A failed pilot costs EUR 12,000 and answers the question.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Q8</a:t>
            </a:r>
          </a:p>
        </p:txBody>
      </p:sp>
      <p:pic>
        <p:nvPicPr>
          <p:cNvPr id="44" name="Picture 43" descr="icon00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302" y="647700"/>
            <a:ext cx="915447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449865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Q8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65" y="495300"/>
            <a:ext cx="3693604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IMPLEMENTATION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Every success measure has a number, an owner and a consequence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780698"/>
            <a:ext cx="10972800" cy="2894742"/>
          </a:xfrm>
          <a:prstGeom prst="roundRect">
            <a:avLst>
              <a:gd name="adj" fmla="val 3290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714023"/>
            <a:ext cx="5287137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WHO GOVERNS IT, HOW IS SUCCESS MEASURED, AND WHAT IF PEOPLE RESIST?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725" y="2047398"/>
            <a:ext cx="10496550" cy="247650"/>
          </a:xfrm>
          <a:prstGeom prst="roundRect">
            <a:avLst>
              <a:gd name="adj" fmla="val 19230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114073"/>
            <a:ext cx="11430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2114073"/>
            <a:ext cx="15621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WHO OWNS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150" y="2114073"/>
            <a:ext cx="209550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HOW WE MEASURE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6950" y="2114073"/>
            <a:ext cx="5238750" cy="114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52">
                <a:solidFill>
                  <a:srgbClr val="FFFFFF"/>
                </a:solidFill>
                <a:latin typeface="Arial"/>
              </a:rPr>
              <a:t>WHAT WE DO ABOUT FRICTION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725" y="2295048"/>
            <a:ext cx="10496550" cy="4312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2716815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2347436"/>
            <a:ext cx="114300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2347436"/>
            <a:ext cx="156210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Audit and quality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150" y="2347436"/>
            <a:ext cx="203835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95 % correct evidence references, no critical decision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6950" y="2347436"/>
            <a:ext cx="5238750" cy="32651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Two senior auditors design the test set, so the bar is theirs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725" y="2726340"/>
            <a:ext cx="10496550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725" y="3152870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450" y="2783490"/>
            <a:ext cx="11430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750" y="2783490"/>
            <a:ext cx="15621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External IT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150" y="2783490"/>
            <a:ext cx="20383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No unauthorised result in negative-access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6950" y="2783490"/>
            <a:ext cx="523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Access rights are cleaned before switch-on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3162490"/>
            <a:ext cx="10496550" cy="43605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725" y="3589019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50" y="3219640"/>
            <a:ext cx="11430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0750" y="3219640"/>
            <a:ext cx="15621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150" y="3219640"/>
            <a:ext cx="20383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2.5 net hours per auditor per fully utilised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6950" y="3219640"/>
            <a:ext cx="523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Released time funds quality first, so nobody loses by reporting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725" y="3598545"/>
            <a:ext cx="10496550" cy="4360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7725" y="4025074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50" y="3655695"/>
            <a:ext cx="11430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Adoption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0750" y="3655695"/>
            <a:ext cx="15621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Internal product 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7150" y="3655695"/>
            <a:ext cx="20383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80 % of pilot users use it meaningfully each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6950" y="3655695"/>
            <a:ext cx="523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Weekly feedback decides what gets built next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725" y="4034599"/>
            <a:ext cx="10496550" cy="43605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7725" y="4461129"/>
            <a:ext cx="1049655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450" y="4091749"/>
            <a:ext cx="11430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A2430"/>
                </a:solidFill>
                <a:latin typeface="Arial"/>
              </a:rPr>
              <a:t>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0750" y="4091749"/>
            <a:ext cx="156210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Privacy 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7150" y="4091749"/>
            <a:ext cx="20383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Signed ICT annex on file for every client in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6950" y="4091749"/>
            <a:ext cx="5238750" cy="33127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A2430"/>
                </a:solidFill>
                <a:latin typeface="Arial"/>
              </a:rPr>
              <a:t>Refusal is a normal answer; the manual method stays available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818316"/>
            <a:ext cx="5400675" cy="808577"/>
          </a:xfrm>
          <a:prstGeom prst="rect">
            <a:avLst/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tIns="114300" rIns="171450" bIns="11430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Management approves two things today:</a:t>
            </a:r>
            <a:r>
              <a:rPr sz="1087" b="0" i="0">
                <a:solidFill>
                  <a:srgbClr val="1A2430"/>
                </a:solidFill>
                <a:latin typeface="Arial"/>
              </a:rPr>
              <a:t> the pilot budget of EUR 12,000 and the name of the internal product owner. Everything else follows a gate.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4818316"/>
            <a:ext cx="47625" cy="808577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81725" y="4818316"/>
            <a:ext cx="5400675" cy="808577"/>
          </a:xfrm>
          <a:prstGeom prst="rect">
            <a:avLst/>
          </a:prstGeom>
          <a:solidFill>
            <a:srgbClr val="F8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tIns="114300" rIns="171450" bIns="114300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431127"/>
                </a:solidFill>
                <a:latin typeface="Arial"/>
              </a:rPr>
              <a:t>The honest risk:</a:t>
            </a:r>
            <a:r>
              <a:rPr sz="1087" b="0" i="0">
                <a:solidFill>
                  <a:srgbClr val="1A2430"/>
                </a:solidFill>
                <a:latin typeface="Arial"/>
              </a:rPr>
              <a:t> experienced auditors may read this as a judgement on their speed. It is not, and the measures are built so that reporting a saving never costs anyone anything.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725" y="4818316"/>
            <a:ext cx="47625" cy="808577"/>
          </a:xfrm>
          <a:prstGeom prst="rect">
            <a:avLst/>
          </a:prstGeom>
          <a:solidFill>
            <a:srgbClr val="5F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5479" y="6534150"/>
            <a:ext cx="902236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071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29809" y="6534150"/>
            <a:ext cx="20974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Q8</a:t>
            </a:r>
          </a:p>
        </p:txBody>
      </p:sp>
      <p:pic>
        <p:nvPicPr>
          <p:cNvPr id="53" name="Picture 52" descr="icon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57439" y="647700"/>
            <a:ext cx="958310" cy="15430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12150" b="1" i="0">
                <a:solidFill>
                  <a:srgbClr val="F5F1F3"/>
                </a:solidFill>
                <a:latin typeface="Arial"/>
              </a:rPr>
              <a:t>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229838" cy="323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 spc="45">
                <a:solidFill>
                  <a:srgbClr val="5F1937"/>
                </a:solidFill>
                <a:latin typeface="Arial"/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5638" y="495300"/>
            <a:ext cx="4489513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5" b="1" i="0" spc="252">
                <a:solidFill>
                  <a:srgbClr val="1A2430"/>
                </a:solidFill>
                <a:latin typeface="Arial"/>
              </a:rPr>
              <a:t>ADDITIONAL CONSIDERATION,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9391650" cy="3021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5F1937"/>
                </a:solidFill>
                <a:latin typeface="Arial"/>
              </a:rPr>
              <a:t>Yes, build the audit RAG, because it makes every answer checkable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93354"/>
            <a:ext cx="10972800" cy="2649474"/>
          </a:xfrm>
          <a:prstGeom prst="roundRect">
            <a:avLst>
              <a:gd name="adj" fmla="val 3595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1626679"/>
            <a:ext cx="5311806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WHAT IS RAG, AND HOW DOES IT DIFFER FROM UPLOADING FILES TO CHATGPT?</a:t>
            </a:r>
          </a:p>
        </p:txBody>
      </p:sp>
      <p:sp>
        <p:nvSpPr>
          <p:cNvPr id="8" name="Oval 7"/>
          <p:cNvSpPr/>
          <p:nvPr/>
        </p:nvSpPr>
        <p:spPr>
          <a:xfrm>
            <a:off x="1401984" y="1941004"/>
            <a:ext cx="685800" cy="6858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0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59" y="2121979"/>
            <a:ext cx="323850" cy="3238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625" y="2750629"/>
            <a:ext cx="1870614" cy="361950"/>
          </a:xfrm>
          <a:prstGeom prst="roundRect">
            <a:avLst>
              <a:gd name="adj" fmla="val 10526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66">
                <a:solidFill>
                  <a:srgbClr val="FFFFFF"/>
                </a:solidFill>
                <a:latin typeface="Arial"/>
              </a:rPr>
              <a:t>1 APPROVED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207829"/>
            <a:ext cx="1870614" cy="35985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Only documents we may legitimately reuse</a:t>
            </a:r>
          </a:p>
        </p:txBody>
      </p:sp>
      <p:pic>
        <p:nvPicPr>
          <p:cNvPr id="12" name="Picture 11" descr="icon00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814" y="2141029"/>
            <a:ext cx="247650" cy="28575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577494" y="1941004"/>
            <a:ext cx="685800" cy="6858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0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469" y="2121979"/>
            <a:ext cx="323850" cy="3238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985039" y="2750629"/>
            <a:ext cx="1870805" cy="361950"/>
          </a:xfrm>
          <a:prstGeom prst="roundRect">
            <a:avLst>
              <a:gd name="adj" fmla="val 10526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66">
                <a:solidFill>
                  <a:srgbClr val="FFFFFF"/>
                </a:solidFill>
                <a:latin typeface="Arial"/>
              </a:rPr>
              <a:t>2 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039" y="3207829"/>
            <a:ext cx="1870805" cy="35985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Permissions enforced before results are picked</a:t>
            </a:r>
          </a:p>
        </p:txBody>
      </p:sp>
      <p:pic>
        <p:nvPicPr>
          <p:cNvPr id="17" name="Picture 16" descr="icon00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420" y="2141029"/>
            <a:ext cx="247650" cy="28575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752909" y="1941004"/>
            <a:ext cx="685800" cy="6858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00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884" y="2121979"/>
            <a:ext cx="323850" cy="3238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160645" y="2750629"/>
            <a:ext cx="1870614" cy="361950"/>
          </a:xfrm>
          <a:prstGeom prst="roundRect">
            <a:avLst>
              <a:gd name="adj" fmla="val 10526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66">
                <a:solidFill>
                  <a:srgbClr val="FFFFFF"/>
                </a:solidFill>
                <a:latin typeface="Arial"/>
              </a:rPr>
              <a:t>3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0645" y="3207829"/>
            <a:ext cx="1870614" cy="35985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Only the retrieved passages reach the model</a:t>
            </a:r>
          </a:p>
        </p:txBody>
      </p:sp>
      <p:pic>
        <p:nvPicPr>
          <p:cNvPr id="22" name="Picture 21" descr="icon00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834" y="2141029"/>
            <a:ext cx="247650" cy="28575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7928514" y="1941004"/>
            <a:ext cx="685800" cy="6858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00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9489" y="2121979"/>
            <a:ext cx="323850" cy="32385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36059" y="2750629"/>
            <a:ext cx="1870805" cy="361950"/>
          </a:xfrm>
          <a:prstGeom prst="roundRect">
            <a:avLst>
              <a:gd name="adj" fmla="val 10526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66">
                <a:solidFill>
                  <a:srgbClr val="FFFFFF"/>
                </a:solidFill>
                <a:latin typeface="Arial"/>
              </a:rPr>
              <a:t>4 CITE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6059" y="3207829"/>
            <a:ext cx="1870805" cy="35985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Source, page and version shown with every claim</a:t>
            </a:r>
          </a:p>
        </p:txBody>
      </p:sp>
      <p:pic>
        <p:nvPicPr>
          <p:cNvPr id="27" name="Picture 26" descr="icon00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344" y="2141029"/>
            <a:ext cx="247650" cy="28575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0104120" y="1941004"/>
            <a:ext cx="685800" cy="685800"/>
          </a:xfrm>
          <a:prstGeom prst="ellipse">
            <a:avLst/>
          </a:prstGeom>
          <a:gradFill rotWithShape="1">
            <a:gsLst>
              <a:gs pos="0">
                <a:srgbClr val="7E2A4B"/>
              </a:gs>
              <a:gs pos="100000">
                <a:srgbClr val="2F0B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009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5095" y="2121979"/>
            <a:ext cx="323850" cy="32385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511569" y="2750629"/>
            <a:ext cx="1870805" cy="361950"/>
          </a:xfrm>
          <a:prstGeom prst="roundRect">
            <a:avLst>
              <a:gd name="adj" fmla="val 10526"/>
            </a:avLst>
          </a:prstGeom>
          <a:solidFill>
            <a:srgbClr val="431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5250" tIns="66675" rIns="95250" bIns="66675">
            <a:noAutofit/>
          </a:bodyPr>
          <a:lstStyle/>
          <a:p>
            <a:pPr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 spc="66">
                <a:solidFill>
                  <a:srgbClr val="FFFFFF"/>
                </a:solidFill>
                <a:latin typeface="Arial"/>
              </a:rPr>
              <a:t>5 AUDITOR APPROVES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1569" y="3207829"/>
            <a:ext cx="1870805" cy="35985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0"/>
                </a:solidFill>
                <a:latin typeface="Arial"/>
              </a:rPr>
              <a:t>No evidence, no answer. Approval is recorded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625" y="3691509"/>
            <a:ext cx="10572750" cy="479869"/>
          </a:xfrm>
          <a:prstGeom prst="roundRect">
            <a:avLst>
              <a:gd name="adj" fmla="val 9924"/>
            </a:avLst>
          </a:prstGeom>
          <a:solidFill>
            <a:srgbClr val="F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009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" y="3840956"/>
            <a:ext cx="180975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19200" y="3767709"/>
            <a:ext cx="10029825" cy="3465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1127"/>
                </a:solidFill>
                <a:latin typeface="Arial"/>
              </a:rPr>
              <a:t>The difference is not the algorithm.</a:t>
            </a:r>
            <a:r>
              <a:rPr sz="1050" b="0" i="0">
                <a:solidFill>
                  <a:srgbClr val="1A2430"/>
                </a:solidFill>
                <a:latin typeface="Arial"/>
              </a:rPr>
              <a:t> A chatbot upload also retrieves. Business RAG adds maintained sources, client separation, version control, deletion rules and a tested answer set.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4485703"/>
            <a:ext cx="5400675" cy="1228725"/>
          </a:xfrm>
          <a:prstGeom prst="roundRect">
            <a:avLst>
              <a:gd name="adj" fmla="val 7751"/>
            </a:avLst>
          </a:prstGeom>
          <a:noFill/>
          <a:ln w="9525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625" y="4419028"/>
            <a:ext cx="4482274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5F1937"/>
                </a:solidFill>
                <a:latin typeface="Arial"/>
              </a:rPr>
              <a:t>SHOULD IT BE PART OF THE SOLUTION, AND HOW DO WE BUILD IT?</a:t>
            </a:r>
          </a:p>
        </p:txBody>
      </p:sp>
      <p:pic>
        <p:nvPicPr>
          <p:cNvPr id="37" name="Picture 36" descr="icon009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4723828"/>
            <a:ext cx="2095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23950" y="4742116"/>
            <a:ext cx="3129438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Yes, from month four, once the pilot gates pass</a:t>
            </a:r>
          </a:p>
        </p:txBody>
      </p:sp>
      <p:pic>
        <p:nvPicPr>
          <p:cNvPr id="39" name="Picture 38" descr="icon009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5038153"/>
            <a:ext cx="2095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23950" y="5056441"/>
            <a:ext cx="3134772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Index inside the EU, protected like the originals</a:t>
            </a:r>
          </a:p>
        </p:txBody>
      </p:sp>
      <p:pic>
        <p:nvPicPr>
          <p:cNvPr id="41" name="Picture 40" descr="icon009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5352478"/>
            <a:ext cx="209550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3950" y="5370766"/>
            <a:ext cx="3216878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Model stays interchangeable after quality testing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1725" y="4485703"/>
            <a:ext cx="5400675" cy="1228725"/>
          </a:xfrm>
          <a:prstGeom prst="roundRect">
            <a:avLst>
              <a:gd name="adj" fmla="val 7751"/>
            </a:avLst>
          </a:prstGeom>
          <a:solidFill>
            <a:srgbClr val="FCF8F0"/>
          </a:solidFill>
          <a:ln w="9525">
            <a:solidFill>
              <a:srgbClr val="E9E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81750" y="4419028"/>
            <a:ext cx="2091594" cy="114300"/>
          </a:xfrm>
          <a:prstGeom prst="rect">
            <a:avLst/>
          </a:prstGeom>
          <a:solidFill>
            <a:srgbClr val="FC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5725" tIns="0" rIns="85725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86">
                <a:solidFill>
                  <a:srgbClr val="8C5F1B"/>
                </a:solidFill>
                <a:latin typeface="Arial"/>
              </a:rPr>
              <a:t>WHAT DOES RAG NOT SOLVE?</a:t>
            </a:r>
          </a:p>
        </p:txBody>
      </p:sp>
      <p:pic>
        <p:nvPicPr>
          <p:cNvPr id="45" name="Picture 44" descr="icon009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4723828"/>
            <a:ext cx="209550" cy="2095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96075" y="4742116"/>
            <a:ext cx="3339846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Retrieved passages still leave the internal network</a:t>
            </a:r>
          </a:p>
        </p:txBody>
      </p:sp>
      <p:pic>
        <p:nvPicPr>
          <p:cNvPr id="47" name="Picture 46" descr="icon009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1750" y="5038153"/>
            <a:ext cx="209550" cy="2095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96075" y="5056441"/>
            <a:ext cx="2896457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A correct citation is not a correct conclusion</a:t>
            </a:r>
          </a:p>
        </p:txBody>
      </p:sp>
      <p:pic>
        <p:nvPicPr>
          <p:cNvPr id="49" name="Picture 48" descr="icon009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0" y="5352478"/>
            <a:ext cx="209550" cy="209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96075" y="5370766"/>
            <a:ext cx="3848576" cy="191833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11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1A2430"/>
                </a:solidFill>
                <a:latin typeface="Arial"/>
              </a:rPr>
              <a:t>It improves traceability and does not protect confidentiality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Group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479" y="6534150"/>
            <a:ext cx="8927115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AuditCert France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5469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Cohort B, Group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4559" y="6534150"/>
            <a:ext cx="304990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79"/>
                </a:solidFill>
                <a:latin typeface="Arial"/>
              </a:rPr>
              <a:t>RAG</a:t>
            </a:r>
          </a:p>
        </p:txBody>
      </p:sp>
      <p:pic>
        <p:nvPicPr>
          <p:cNvPr id="57" name="Picture 56" descr="icon002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1300" y="285750"/>
            <a:ext cx="11811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0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97044"/>
            <a:ext cx="10877550" cy="14287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95">
                <a:solidFill>
                  <a:srgbClr val="C5BBBF"/>
                </a:solidFill>
                <a:latin typeface="Arial"/>
              </a:rP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39944"/>
            <a:ext cx="10820400" cy="97212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-33">
                <a:solidFill>
                  <a:srgbClr val="FFFFFF"/>
                </a:solidFill>
                <a:latin typeface="Arial"/>
              </a:rPr>
              <a:t>Deploy a controlled business cloud</a:t>
            </a:r>
          </a:p>
          <a:p>
            <a:pPr algn="l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-33">
                <a:solidFill>
                  <a:srgbClr val="FFFFFF"/>
                </a:solidFill>
                <a:latin typeface="Arial"/>
              </a:rPr>
              <a:t>and prove it on a twelve-week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050190"/>
            <a:ext cx="876300" cy="381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374040"/>
            <a:ext cx="2590800" cy="875252"/>
          </a:xfrm>
          <a:prstGeom prst="roundRect">
            <a:avLst>
              <a:gd name="adj" fmla="val 130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" y="3516915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77,424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926490"/>
            <a:ext cx="2362200" cy="17992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D5CED1"/>
                </a:solidFill>
                <a:latin typeface="Arial"/>
              </a:rPr>
              <a:t>Three-year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374040"/>
            <a:ext cx="2590800" cy="875252"/>
          </a:xfrm>
          <a:prstGeom prst="roundRect">
            <a:avLst>
              <a:gd name="adj" fmla="val 130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1875" y="3516915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119,232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3926490"/>
            <a:ext cx="2362200" cy="17992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D5CED1"/>
                </a:solidFill>
                <a:latin typeface="Arial"/>
              </a:rPr>
              <a:t>Capacity released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74040"/>
            <a:ext cx="2590800" cy="875252"/>
          </a:xfrm>
          <a:prstGeom prst="roundRect">
            <a:avLst>
              <a:gd name="adj" fmla="val 130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075" y="3516915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41,808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926490"/>
            <a:ext cx="2362200" cy="17992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D5CED1"/>
                </a:solidFill>
                <a:latin typeface="Arial"/>
              </a:rPr>
              <a:t>Net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374040"/>
            <a:ext cx="2590800" cy="875252"/>
          </a:xfrm>
          <a:prstGeom prst="roundRect">
            <a:avLst>
              <a:gd name="adj" fmla="val 130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8275" y="3516915"/>
            <a:ext cx="2305050" cy="304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EUR 12,000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3926490"/>
            <a:ext cx="2362200" cy="17992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D5CED1"/>
                </a:solidFill>
                <a:latin typeface="Arial"/>
              </a:rPr>
              <a:t>What we ask for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97038"/>
            <a:ext cx="3505200" cy="7496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97038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65370"/>
            <a:ext cx="3505200" cy="64484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EEEBED"/>
                </a:solidFill>
                <a:latin typeface="Arial"/>
              </a:rPr>
              <a:t>The pilot budget and a named internal product owner.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39913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APPROVE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497038"/>
            <a:ext cx="3505200" cy="7496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497038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865370"/>
            <a:ext cx="3505200" cy="64484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EEEBED"/>
                </a:solidFill>
                <a:latin typeface="Arial"/>
              </a:rPr>
              <a:t>Quality, access controls, eligible workload and measured time savings.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639913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REVIEW IN TWELVE WEEKS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4497038"/>
            <a:ext cx="3505200" cy="7496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497038"/>
            <a:ext cx="3505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865370"/>
            <a:ext cx="3505200" cy="64484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EEEBED"/>
                </a:solidFill>
                <a:latin typeface="Arial"/>
              </a:rPr>
              <a:t>Eligible workload below 64 per cent, or a client requiring local processing.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639913"/>
            <a:ext cx="3562350" cy="15878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62" b="1" i="0" spc="112">
                <a:solidFill>
                  <a:srgbClr val="B8ACB1"/>
                </a:solidFill>
                <a:latin typeface="Arial"/>
              </a:rPr>
              <a:t>REOPENS THE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6448425"/>
            <a:ext cx="10972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64484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6534150"/>
            <a:ext cx="47015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A2A8"/>
                </a:solidFill>
                <a:latin typeface="Arial"/>
              </a:rPr>
              <a:t>Group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479" y="6534150"/>
            <a:ext cx="9047702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A2A8"/>
                </a:solidFill>
                <a:latin typeface="Arial"/>
              </a:rPr>
              <a:t>AuditCert France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6056" y="6534150"/>
            <a:ext cx="984789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A2A8"/>
                </a:solidFill>
                <a:latin typeface="Arial"/>
              </a:rPr>
              <a:t>Cohort B, Group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55146" y="6534150"/>
            <a:ext cx="184404" cy="1333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0A2A8"/>
                </a:solidFill>
                <a:latin typeface="Arial"/>
              </a:rPr>
              <a:t>14</a:t>
            </a:r>
          </a:p>
        </p:txBody>
      </p:sp>
      <p:pic>
        <p:nvPicPr>
          <p:cNvPr id="36" name="Picture 35" descr="icon0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19100"/>
            <a:ext cx="1676400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/>
  <dc:creator>EDHEC project template</dc:creator>
  <cp:keywords/>
  <dc:description>generated using python-pptx</dc:description>
  <cp:lastModifiedBy>EDHEC project template</cp:lastModifiedBy>
  <cp:revision>1</cp:revision>
  <dcterms:created xsi:type="dcterms:W3CDTF">2013-01-27T09:14:16Z</dcterms:created>
  <dcterms:modified xsi:type="dcterms:W3CDTF">2013-01-27T09:15:58Z</dcterms:modified>
  <cp:category/>
</cp:coreProperties>
</file>